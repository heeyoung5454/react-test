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658368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00">
                <a:solidFill>
                  <a:srgbClr val="BFDBFE"/>
                </a:solidFill>
                <a:latin typeface="Noto Sans CJK KR"/>
              </a:rPr>
              <a:t>React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43000"/>
            <a:ext cx="2743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900">
                <a:solidFill>
                  <a:srgbClr val="FFFFFF"/>
                </a:solidFill>
                <a:latin typeface="Noto Sans CJK KR"/>
              </a:rPr>
              <a:t>Flat 정책 목록을
계층 필터 UI로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44368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400">
                <a:solidFill>
                  <a:srgbClr val="DBEAFE"/>
                </a:solidFill>
                <a:latin typeface="Noto Sans CJK KR"/>
              </a:rPr>
              <a:t>검색 · 체크 · 태그 · 테이블 동기화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960120"/>
            <a:ext cx="1965960" cy="658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14213D"/>
                </a:solidFill>
                <a:latin typeface="Noto Sans CJK KR"/>
              </a:rPr>
              <a:t>testData
flat array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685800"/>
            <a:ext cx="2514600" cy="56692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FilterView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389888"/>
            <a:ext cx="2514600" cy="25146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164592" bIns="164592" wrap="square"/>
          <a:lstStyle/>
          <a:p>
            <a:pPr algn="l"/>
            <a:r>
              <a:rPr b="0" sz="1500">
                <a:solidFill>
                  <a:srgbClr val="0F172A"/>
                </a:solidFill>
                <a:latin typeface="Noto Sans CJK KR"/>
              </a:rPr>
              <a:t>main
  sub
    minor
      name
☑ / ◩ / ☐
검색 하이라이트
선택 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60920" y="4617720"/>
            <a:ext cx="2514600" cy="71323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TableView
selected policyId만 표시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565392" y="1298448"/>
            <a:ext cx="768096" cy="0"/>
          </a:xfrm>
          <a:prstGeom prst="line">
            <a:avLst/>
          </a:prstGeom>
          <a:ln w="279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13648" y="3931920"/>
            <a:ext cx="0" cy="658368"/>
          </a:xfrm>
          <a:prstGeom prst="line">
            <a:avLst/>
          </a:prstGeom>
          <a:ln w="2794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572000" y="2743200"/>
            <a:ext cx="192024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핵심 질문 1
데이터를 어떻게 트리로 바꾸나?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3977639"/>
            <a:ext cx="192024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핵심 질문 2
React 상태를 어떻게 나누나?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문제 정의: flat 데이터와 계층 UI 사이의 간극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원본 데이터는 그대로 두고, UI 상태와 파생 데이터를 분리한다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246120" cy="434340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246120" cy="39319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요구사항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947672"/>
            <a:ext cx="3008376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정책 계층: main → sub → (minor) → name
그룹 체크: 전체 선택 / 일부 선택 / 해제
검색: 트리 축소 + 라벨 하이라이트 + 자동 펼침
선택 결과: 하단 태그 + TableView 필터
새로고침 후 선택 유지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1417320"/>
            <a:ext cx="3246120" cy="4343400"/>
          </a:xfrm>
          <a:prstGeom prst="roundRect">
            <a:avLst/>
          </a:prstGeom>
          <a:solidFill>
            <a:srgbClr val="FEE2E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80560" y="1417320"/>
            <a:ext cx="3246120" cy="3931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초기 아이디어의 문제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9432" y="1947672"/>
            <a:ext cx="3008376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testData에 isOpen, isChecked를 넣어 직접 관리
검색이 들어오면 원본 트리와 검색 결과 트리가 갈라짐
검색 결과에서 체크한 값이 원본 상태와 엇갈릴 수 있음
상태 갱신 경로가 복잡해짐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417320"/>
            <a:ext cx="3246120" cy="43434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75320" y="1417320"/>
            <a:ext cx="32461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최종 방향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1947672"/>
            <a:ext cx="3008376" cy="3721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도메인 데이터: testData flat 배열 유지
파생 데이터: makeTree(tree), filteredTree
UI 상태: openMap, checkedMap으로 분리
App 상태: checkedPolicyIds, tableData, localStorage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005072" y="3474720"/>
            <a:ext cx="402336" cy="0"/>
          </a:xfrm>
          <a:prstGeom prst="line">
            <a:avLst/>
          </a:prstGeom>
          <a:ln w="26670">
            <a:solidFill>
              <a:srgbClr val="DC26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799831" y="3474720"/>
            <a:ext cx="402337" cy="0"/>
          </a:xfrm>
          <a:prstGeom prst="line">
            <a:avLst/>
          </a:prstGeom>
          <a:ln w="2667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977639" y="3063240"/>
            <a:ext cx="91440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DC2626"/>
                </a:solidFill>
                <a:latin typeface="Noto Sans CJK KR"/>
              </a:rPr>
              <a:t>상태 꼬임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54112" y="3063240"/>
            <a:ext cx="68580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분리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전체 구조: 왼쪽 FilterView, 오른쪽 TableView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데이터 원본은 하나, 화면은 파생 상태로 동작한다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1874519" cy="59436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Noto Sans CJK KR"/>
              </a:rPr>
              <a:t>testData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2157984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050">
                <a:solidFill>
                  <a:srgbClr val="64748B"/>
                </a:solidFill>
                <a:latin typeface="Noto Sans CJK KR"/>
              </a:rPr>
              <a:t>policyId / main / sub / minor / name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143000"/>
            <a:ext cx="205740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0F172A"/>
                </a:solidFill>
                <a:latin typeface="Noto Sans CJK KR"/>
              </a:rPr>
              <a:t>makeTree
flat → tree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80760" y="868680"/>
            <a:ext cx="2240280" cy="105156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0F172A"/>
                </a:solidFill>
                <a:latin typeface="Noto Sans CJK KR"/>
              </a:rPr>
              <a:t>FilterView
검색·체크·태그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40" y="1143000"/>
            <a:ext cx="219456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0F172A"/>
                </a:solidFill>
                <a:latin typeface="Noto Sans CJK KR"/>
              </a:rPr>
              <a:t>TableView
필터된 행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606040" y="1719072"/>
            <a:ext cx="640080" cy="0"/>
          </a:xfrm>
          <a:prstGeom prst="line">
            <a:avLst/>
          </a:prstGeom>
          <a:ln w="2540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5413248" y="1417320"/>
            <a:ext cx="621792" cy="21031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366760" y="1417320"/>
            <a:ext cx="594360" cy="210312"/>
          </a:xfrm>
          <a:prstGeom prst="line">
            <a:avLst/>
          </a:prstGeom>
          <a:ln w="2540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023360"/>
            <a:ext cx="1691640" cy="4754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checkedMap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154680" y="4023360"/>
            <a:ext cx="1600200" cy="4754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onChange(ids)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257800" y="3840480"/>
            <a:ext cx="1874519" cy="84124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App
checkedPolicyIds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35240" y="3840480"/>
            <a:ext cx="1691640" cy="84124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localStorage
저장/복원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4023360"/>
            <a:ext cx="1508760" cy="4754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tableData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4261104"/>
            <a:ext cx="457200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4800600" y="4261104"/>
            <a:ext cx="411480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178040" y="4087368"/>
            <a:ext cx="411480" cy="0"/>
          </a:xfrm>
          <a:prstGeom prst="line">
            <a:avLst/>
          </a:prstGeom>
          <a:ln w="228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7178040" y="4261104"/>
            <a:ext cx="2606040" cy="182880"/>
          </a:xfrm>
          <a:prstGeom prst="line">
            <a:avLst/>
          </a:prstGeom>
          <a:ln w="2286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41832" y="4800600"/>
            <a:ext cx="1371600" cy="292608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7C3AED"/>
                </a:solidFill>
                <a:latin typeface="Noto Sans CJK KR"/>
              </a:rPr>
              <a:t>leaf 단위 policyId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67528" y="4800600"/>
            <a:ext cx="1234440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0F172A"/>
                </a:solidFill>
                <a:latin typeface="Noto Sans CJK KR"/>
              </a:rPr>
              <a:t>상태 끌어올리기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74352" y="4800600"/>
            <a:ext cx="150876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선택 0개면 전체 복원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① Flat → Tree: makeTree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flat 배열을 UI가 필요한 main → sub → minor → name 구조로 변환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514600" cy="41148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Noto Sans CJK KR"/>
              </a:rPr>
              <a:t>flat row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2514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0" sz="720">
                <a:solidFill>
                  <a:srgbClr val="0F172A"/>
                </a:solidFill>
                <a:latin typeface="Noto Sans CJK KR"/>
              </a:rPr>
              <a:t>AWS-ACM-001 | Identity | Certificate | - | 투명성 로깅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304288"/>
            <a:ext cx="2514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0" sz="720">
                <a:solidFill>
                  <a:srgbClr val="0F172A"/>
                </a:solidFill>
                <a:latin typeface="Noto Sans CJK KR"/>
              </a:rPr>
              <a:t>AWS-IAM-009 | Identity | IAM | IAM Config | 액세스 키 교체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2779776"/>
            <a:ext cx="2514600" cy="411480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0" sz="720">
                <a:solidFill>
                  <a:srgbClr val="0F172A"/>
                </a:solidFill>
                <a:latin typeface="Noto Sans CJK KR"/>
              </a:rPr>
              <a:t>AWS-API-001 | Networking | API Gateway | - | 캐싱 활성화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86200" y="1325880"/>
            <a:ext cx="233172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20">
                <a:solidFill>
                  <a:srgbClr val="0F172A"/>
                </a:solidFill>
                <a:latin typeface="Noto Sans CJK KR"/>
              </a:rPr>
              <a:t>1. main은 Map으로 묶고
같은 main 객체 재사용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3640" y="1801368"/>
            <a:ext cx="320040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629400" y="1325880"/>
            <a:ext cx="233172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20">
                <a:solidFill>
                  <a:srgbClr val="0F172A"/>
                </a:solidFill>
                <a:latin typeface="Noto Sans CJK KR"/>
              </a:rPr>
              <a:t>2. sub는 children.find
없으면 새 노드 push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06840" y="1801368"/>
            <a:ext cx="320040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86200" y="2926080"/>
            <a:ext cx="233172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20">
                <a:solidFill>
                  <a:srgbClr val="0F172A"/>
                </a:solidFill>
                <a:latin typeface="Noto Sans CJK KR"/>
              </a:rPr>
              <a:t>3. minor가 있으면 minor 아래
없으면 sub 바로 아래 leaf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3401568"/>
            <a:ext cx="320040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629400" y="2926080"/>
            <a:ext cx="233172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20">
                <a:solidFill>
                  <a:srgbClr val="0F172A"/>
                </a:solidFill>
                <a:latin typeface="Noto Sans CJK KR"/>
              </a:rPr>
              <a:t>4. DFS addCount로
그룹 leafCount 계산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3273552" y="1828800"/>
            <a:ext cx="548639" cy="347472"/>
          </a:xfrm>
          <a:prstGeom prst="line">
            <a:avLst/>
          </a:prstGeom>
          <a:ln w="2540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915400" y="1325880"/>
            <a:ext cx="2514600" cy="457200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FFFFFF"/>
                </a:solidFill>
                <a:latin typeface="Noto Sans CJK KR"/>
              </a:rPr>
              <a:t>tree result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80" y="1920240"/>
            <a:ext cx="2240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919">
                <a:solidFill>
                  <a:srgbClr val="0F172A"/>
                </a:solidFill>
                <a:latin typeface="Noto Sans CJK KR"/>
              </a:rPr>
              <a:t>Identity &amp; Crypto (4)
├─ Certificate Manager (2)
│  ├─ ACM 인증서 투명성 로깅
│  └─ ACM 인증서 만료일 점검
└─ IAM (2)
   └─ IAM Configuration (2)
      ├─ 액세스 키 90일 이내 교체
      └─ IAM 정책 설정...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61120" y="4709160"/>
            <a:ext cx="237744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leafCount는 UI 카운트와 all 태그에 사용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makeTree 세부 판단: minor 유무가 leaf 위치를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트리 shape를 일정하게 만들되, minor가 없는 정책도 자연스럽게 표현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011680" cy="53035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FFFFFF"/>
                </a:solidFill>
                <a:latin typeface="Noto Sans CJK KR"/>
              </a:rPr>
              <a:t>정책 row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234440"/>
            <a:ext cx="201168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600">
                <a:solidFill>
                  <a:srgbClr val="0F172A"/>
                </a:solidFill>
                <a:latin typeface="Noto Sans CJK KR"/>
              </a:rPr>
              <a:t>minor 값이
있는가?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1728216"/>
            <a:ext cx="822960" cy="0"/>
          </a:xfrm>
          <a:prstGeom prst="line">
            <a:avLst/>
          </a:prstGeom>
          <a:ln w="2540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822960"/>
            <a:ext cx="1828800" cy="43891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YES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417320"/>
            <a:ext cx="4434840" cy="91440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main → sub → minor → name leaf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715000" y="1252728"/>
            <a:ext cx="640080" cy="210312"/>
          </a:xfrm>
          <a:prstGeom prst="line">
            <a:avLst/>
          </a:prstGeom>
          <a:ln w="2540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400800" y="2743200"/>
            <a:ext cx="1828800" cy="43891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337560"/>
            <a:ext cx="4434840" cy="9144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main → sub → name leaf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715000" y="1965960"/>
            <a:ext cx="640080" cy="1033272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251960"/>
            <a:ext cx="402336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4251960"/>
            <a:ext cx="4023360" cy="3931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React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2" y="4782312"/>
            <a:ext cx="3785616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originData가 바뀔 때만 트리 재계산
입력·체크만 바뀌는 렌더에서는 makeTree 비용을 쓰지 않음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715000" y="4251960"/>
            <a:ext cx="5120640" cy="13258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715000" y="4251960"/>
            <a:ext cx="512064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설계 의미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33872" y="4782312"/>
            <a:ext cx="4882896" cy="7040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테이블/API 응답은 flat이 자연스럽고, 필터 UI만 계층이 필요함
변환 책임을 makeTree 한 곳에 모아 원본 데이터 오염을 막음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② 상태 분리: openMap / checkedMap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펼침은 경로 단위, 체크는 policyId 단위로 저장한다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4846320" cy="416052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371600"/>
            <a:ext cx="484632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openMap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4608576" cy="3538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Noto Sans CJK KR"/>
              </a:rPr>
              <a:t>키: 라벨 경로 문자열
예: "Identity &amp; Crypto&gt;IAM&gt;IAM Configuration"
의미: 어떤 그룹 노드가 펼쳐져 있는가
검색 자동 펼침과 사용자의 수동 토글이 다루는 상태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371600"/>
            <a:ext cx="4846320" cy="416052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37960" y="1371600"/>
            <a:ext cx="4846320" cy="3931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checkedMap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56832" y="1901952"/>
            <a:ext cx="4608576" cy="35387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200">
                <a:solidFill>
                  <a:srgbClr val="0F172A"/>
                </a:solidFill>
                <a:latin typeface="Noto Sans CJK KR"/>
              </a:rPr>
              <a:t>키: policyId
예: "AWS-IAM-009" → true
의미: 어떤 leaf 정책이 선택되어 있는가
App, localStorage, TableView 필터링으로 전달되는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12080" y="2880360"/>
            <a:ext cx="1783080" cy="658368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분리 기준</a:t>
            </a:r>
          </a:p>
        </p:txBody>
      </p:sp>
      <p:cxnSp>
        <p:nvCxnSpPr>
          <p:cNvPr id="13" name="Connector 12"/>
          <p:cNvCxnSpPr/>
          <p:nvPr/>
        </p:nvCxnSpPr>
        <p:spPr>
          <a:xfrm flipH="1">
            <a:off x="4800600" y="3200400"/>
            <a:ext cx="384048" cy="0"/>
          </a:xfrm>
          <a:prstGeom prst="line">
            <a:avLst/>
          </a:prstGeom>
          <a:ln w="2286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022592" y="3200400"/>
            <a:ext cx="384048" cy="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4400" y="5742432"/>
            <a:ext cx="539496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검색 결과 트리는 보여주기용 파생 데이터. 체크 상태는 원본 트리 기준으로 유지.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③ 검색 필터: filterNode 재귀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검색어에 맞는 부분 트리만 반환하고, checkedMap은 변경하지 않는다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828800" cy="53035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node 입력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051560"/>
            <a:ext cx="2194560" cy="89611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leaf(name)인가?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697480" y="1499616"/>
            <a:ext cx="640080" cy="0"/>
          </a:xfrm>
          <a:prstGeom prst="line">
            <a:avLst/>
          </a:prstGeom>
          <a:ln w="2286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400800" y="777240"/>
            <a:ext cx="2240280" cy="71323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label includes keyword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777240"/>
            <a:ext cx="1920240" cy="71323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KR"/>
              </a:rPr>
              <a:t>node 유지
아니면 null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5623560" y="1115568"/>
            <a:ext cx="731520" cy="118872"/>
          </a:xfrm>
          <a:prstGeom prst="line">
            <a:avLst/>
          </a:prstGeom>
          <a:ln w="2159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8686800" y="1133856"/>
            <a:ext cx="548640" cy="0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383280" y="2788920"/>
            <a:ext cx="2194560" cy="8961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중간 노드
라벨 매칭?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480560" y="1965960"/>
            <a:ext cx="0" cy="77724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400800" y="2331720"/>
            <a:ext cx="2331720" cy="84124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YES: 자식 전체 노출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5623560" y="2761488"/>
            <a:ext cx="731520" cy="301752"/>
          </a:xfrm>
          <a:prstGeom prst="line">
            <a:avLst/>
          </a:prstGeom>
          <a:ln w="2159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400800" y="3703320"/>
            <a:ext cx="2331720" cy="84124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200">
                <a:solidFill>
                  <a:srgbClr val="0F172A"/>
                </a:solidFill>
                <a:latin typeface="Noto Sans CJK KR"/>
              </a:rPr>
              <a:t>NO: 자식에
filterNode 적용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3703320"/>
            <a:ext cx="1920240" cy="84124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KR"/>
              </a:rPr>
              <a:t>통과한 자식만
붙여 부분 트리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23560" y="3456432"/>
            <a:ext cx="731520" cy="640080"/>
          </a:xfrm>
          <a:prstGeom prst="line">
            <a:avLst/>
          </a:prstGeom>
          <a:ln w="2159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778240" y="4133087"/>
            <a:ext cx="457200" cy="0"/>
          </a:xfrm>
          <a:prstGeom prst="line">
            <a:avLst/>
          </a:prstGeom>
          <a:ln w="2159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22960" y="4754880"/>
            <a:ext cx="475488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22960" y="4754880"/>
            <a:ext cx="4754880" cy="39319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검색 문자열 정규화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832" y="5285232"/>
            <a:ext cx="4517136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소문자 변환 + 연속 공백 축소 + trim → includes 비교 기준 통일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4754880"/>
            <a:ext cx="480060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00800" y="4754880"/>
            <a:ext cx="480060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UX 판단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19672" y="5285232"/>
            <a:ext cx="4562856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부모 라벨이 매칭되면 “카테고리 전체 보기”로 해석해 하위 전체 노출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④ 검색 시 자동 펼침: DFS + markPath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검색어 변경 후 화면이 매칭 경로를 바로 보여 주도록 openMap을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1691640" cy="8686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검색어 변경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31136" y="1938528"/>
            <a:ext cx="283464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04872" y="1508760"/>
            <a:ext cx="1691640" cy="86868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비어 있으면
openMap = {}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33087" y="1938528"/>
            <a:ext cx="283465" cy="0"/>
          </a:xfrm>
          <a:prstGeom prst="line">
            <a:avLst/>
          </a:prstGeom>
          <a:ln w="19050">
            <a:solidFill>
              <a:srgbClr val="6474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06824" y="1508760"/>
            <a:ext cx="1691640" cy="86868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tree 전체 DFS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35040" y="1938528"/>
            <a:ext cx="283464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08776" y="1508760"/>
            <a:ext cx="1691640" cy="8686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매칭 leaf 발견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36992" y="1938528"/>
            <a:ext cx="283464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10728" y="1508760"/>
            <a:ext cx="1691640" cy="8686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markPath
main/sub/minor true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38944" y="1938528"/>
            <a:ext cx="283464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012680" y="1508760"/>
            <a:ext cx="1691640" cy="86868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40">
                <a:solidFill>
                  <a:srgbClr val="0F172A"/>
                </a:solidFill>
                <a:latin typeface="Noto Sans CJK KR"/>
              </a:rPr>
              <a:t>setOpenMap
한 번만 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1546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4213D"/>
                </a:solidFill>
                <a:latin typeface="Noto Sans CJK KR"/>
              </a:rPr>
              <a:t>예: “만료일” 검색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3566160"/>
            <a:ext cx="274320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KR"/>
              </a:rPr>
              <a:t>Identity &amp; Crypto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4160520"/>
            <a:ext cx="2743200" cy="4389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KR"/>
              </a:rPr>
              <a:t>Certificate Manager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645920" y="4754880"/>
            <a:ext cx="2743200" cy="4389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150">
                <a:solidFill>
                  <a:srgbClr val="0F172A"/>
                </a:solidFill>
                <a:latin typeface="Noto Sans CJK KR"/>
              </a:rPr>
              <a:t>ACM 인증서 만료일 점검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194560" y="4005072"/>
            <a:ext cx="411480" cy="128015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06040" y="4599432"/>
            <a:ext cx="411480" cy="128016"/>
          </a:xfrm>
          <a:prstGeom prst="line">
            <a:avLst/>
          </a:prstGeom>
          <a:ln w="1524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5669280" y="3246120"/>
            <a:ext cx="5212080" cy="155448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0" y="3246120"/>
            <a:ext cx="5212080" cy="393192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렌더링과 effect의 역할 분담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88152" y="3776472"/>
            <a:ext cx="4974336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filteredTree는 useMemo로 렌더 중 계산
openMap 갱신은 useEffect에서 검색어 변경 이후 한 번 수행
검색 중 렌더는 isSearching 조건으로 경로를 펼쳐 보여 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15000" y="5074920"/>
            <a:ext cx="3108960" cy="292608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DC2626"/>
                </a:solidFill>
                <a:latin typeface="Noto Sans CJK KR"/>
              </a:rPr>
              <a:t>렌더 본문에서 setOpenMap을 반복 호출하지 않는다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⑤ 체크박스 트리: checked / indeterminate / DFS 전파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그룹 체크는 하위 leaf 전체를 같은 상태로 만드는 동작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3108960" cy="105156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☑ checked
모든 자식이 checked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80" y="1325880"/>
            <a:ext cx="3108960" cy="105156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◩ indeterminate
일부 자식만 checked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325880"/>
            <a:ext cx="3108960" cy="105156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☐ unchecked
선택된 자식 없음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3337560" cy="228600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834640"/>
            <a:ext cx="333756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isChecked(node)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364992"/>
            <a:ext cx="3099815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leaf: checkedMap[policyId]
그룹: children.every(isChecked)
렌더 시 controlled input의 checked 값으로 사용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834640"/>
            <a:ext cx="3337560" cy="228600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34840" y="2834640"/>
            <a:ext cx="3337560" cy="3931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isIndeterminate(node)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3364992"/>
            <a:ext cx="3099815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children 중 checked 개수를 계산
0보다 크고 전체보다 작으면 true
React prop이 아니라 DOM ref로 설정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2834640"/>
            <a:ext cx="3337560" cy="228600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2834640"/>
            <a:ext cx="3337560" cy="3931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handleCheck(node, checked)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7032" y="3364992"/>
            <a:ext cx="3099815" cy="1664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그룹 클릭 시 DFS로 하위 leaf 수집
각 policyId를 true/false로 일괄 변경
leaf 단일 클릭은 해당 id만 토글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12848" y="5394960"/>
            <a:ext cx="548640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checkedMap 하나만 바꾸면 App과 TableView까지 같은 기준을 공유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09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⑥ 하이라이트: 문자열 구간 수집과 interval merge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정규식 없이 indexOf로 모든 토큰 매칭 구간을 모아 JSX 조각으로 반환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2011680" cy="64008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검색어
"access key"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46120" y="1325880"/>
            <a:ext cx="2011680" cy="64008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공백 분리
[access, key]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06440" y="1325880"/>
            <a:ext cx="2011680" cy="64008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indexOf 반복
매칭 구간 수집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66760" y="1325880"/>
            <a:ext cx="2011680" cy="64008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0F172A"/>
                </a:solidFill>
                <a:latin typeface="Noto Sans CJK KR"/>
              </a:rPr>
              <a:t>정렬 + 겹침 병합
interval merge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0" y="1645920"/>
            <a:ext cx="457200" cy="0"/>
          </a:xfrm>
          <a:prstGeom prst="line">
            <a:avLst/>
          </a:prstGeom>
          <a:ln w="2032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303520" y="1645920"/>
            <a:ext cx="457200" cy="0"/>
          </a:xfrm>
          <a:prstGeom prst="line">
            <a:avLst/>
          </a:prstGeom>
          <a:ln w="2032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863840" y="1645920"/>
            <a:ext cx="457200" cy="0"/>
          </a:xfrm>
          <a:prstGeom prst="line">
            <a:avLst/>
          </a:prstGeom>
          <a:ln w="2032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14400" y="2788920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1200">
                <a:solidFill>
                  <a:srgbClr val="14213D"/>
                </a:solidFill>
                <a:latin typeface="Noto Sans CJK KR"/>
              </a:rPr>
              <a:t>라벨 렌더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3246120"/>
            <a:ext cx="1001268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2000">
                <a:solidFill>
                  <a:srgbClr val="0F172A"/>
                </a:solidFill>
                <a:latin typeface="Noto Sans CJK KR"/>
              </a:rPr>
              <a:t>액세스 키 90일 이내 교체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44368" y="3319272"/>
            <a:ext cx="1207008" cy="475488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액세스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70832" y="3319272"/>
            <a:ext cx="484632" cy="475488"/>
          </a:xfrm>
          <a:prstGeom prst="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" rIns="18288" tIns="18288" bIns="18288" wrap="square"/>
          <a:lstStyle/>
          <a:p>
            <a:pPr algn="ctr"/>
            <a:r>
              <a:rPr b="1" sz="1800">
                <a:solidFill>
                  <a:srgbClr val="0F172A"/>
                </a:solidFill>
                <a:latin typeface="Noto Sans CJK KR"/>
              </a:rPr>
              <a:t>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572000"/>
            <a:ext cx="448056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14400" y="4572000"/>
            <a:ext cx="4480560" cy="39319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반환 형태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1" y="5102352"/>
            <a:ext cx="4242816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검색이 없으면 문자열 그대로
검색 중이면 일반 span + highlight span 배열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4572000"/>
            <a:ext cx="4892040" cy="1051560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4572000"/>
            <a:ext cx="489204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안전한 이유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53912" y="5102352"/>
            <a:ext cx="4654296" cy="429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토큰이 겹쳐도 병합 후 slice하기 때문에 중복 하이라이트가 생기지 않음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알고리즘 ⑦ 선택 태그: 완전 선택 그룹은 all 태그로 압축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태그는 선택 상태를 읽는 파생 UI이며, 삭제 시 policyId 묶음을 한 번에 해제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25880"/>
            <a:ext cx="3063240" cy="50292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원본 tree + checkedMap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74320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19">
                <a:solidFill>
                  <a:srgbClr val="0F172A"/>
                </a:solidFill>
                <a:latin typeface="Noto Sans CJK KR"/>
              </a:rPr>
              <a:t>Certificate Manager (2) ☑
├─ ACM 인증서 투명성 로깅 ☑
└─ ACM 인증서 만료일 점검 ☑
IAM Configuration (15) ◩
├─ 액세스 키 90일 이내 교체 ☑
└─ IAM 정책 설정... 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09160" y="2148840"/>
            <a:ext cx="1920240" cy="6858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400">
                <a:solidFill>
                  <a:srgbClr val="0F172A"/>
                </a:solidFill>
                <a:latin typeface="Noto Sans CJK KR"/>
              </a:rPr>
              <a:t>getTags
재귀 순회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86200" y="2487168"/>
            <a:ext cx="777240" cy="0"/>
          </a:xfrm>
          <a:prstGeom prst="line">
            <a:avLst/>
          </a:prstGeom>
          <a:ln w="2286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315200" y="1417320"/>
            <a:ext cx="3749039" cy="658368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300">
                <a:solidFill>
                  <a:srgbClr val="FFFFFF"/>
                </a:solidFill>
                <a:latin typeface="Noto Sans CJK KR"/>
              </a:rPr>
              <a:t>태그 결과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331720"/>
            <a:ext cx="3749039" cy="53035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19">
                <a:solidFill>
                  <a:srgbClr val="0F172A"/>
                </a:solidFill>
                <a:latin typeface="Noto Sans CJK KR"/>
              </a:rPr>
              <a:t>Identity &gt; Certificate Manager : all (2)   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3035808"/>
            <a:ext cx="3749039" cy="53035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950">
                <a:solidFill>
                  <a:srgbClr val="0F172A"/>
                </a:solidFill>
                <a:latin typeface="Noto Sans CJK KR"/>
              </a:rPr>
              <a:t>Identity &gt; IAM &gt; IAM Config &gt; 액세스 키...   ×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675120" y="2487168"/>
            <a:ext cx="594360" cy="0"/>
          </a:xfrm>
          <a:prstGeom prst="line">
            <a:avLst/>
          </a:prstGeom>
          <a:ln w="22860">
            <a:solidFill>
              <a:srgbClr val="16A34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77240" y="4663440"/>
            <a:ext cx="3200400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663440"/>
            <a:ext cx="320040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규칙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5193792"/>
            <a:ext cx="296265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F172A"/>
                </a:solidFill>
                <a:latin typeface="Noto Sans CJK KR"/>
              </a:rPr>
              <a:t>leaf가 checked이면 경로 + 이름으로 개별 태그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80560" y="4663440"/>
            <a:ext cx="3200400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480560" y="4663440"/>
            <a:ext cx="320040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규칙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9432" y="5193792"/>
            <a:ext cx="296265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F172A"/>
                </a:solidFill>
                <a:latin typeface="Noto Sans CJK KR"/>
              </a:rPr>
              <a:t>그룹이 전체 checked이면 all(leafCount)로 묶고 하위 순회 중단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79" y="4663440"/>
            <a:ext cx="2834640" cy="107899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183879" y="4663440"/>
            <a:ext cx="2834640" cy="393192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규칙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5193792"/>
            <a:ext cx="259689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0F172A"/>
                </a:solidFill>
                <a:latin typeface="Noto Sans CJK KR"/>
              </a:rPr>
              <a:t>태그 X는 담긴 policyIds를 모두 false 처리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App 연동: 상태 끌어올리기 + localStorage + 테이블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FilterView의 leaf 선택 결과가 App을 거쳐 TableView 데이터로 동기화된다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664208" cy="896112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FilterView
checkedMap 변경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203704" y="2322576"/>
            <a:ext cx="356616" cy="0"/>
          </a:xfrm>
          <a:prstGeom prst="line">
            <a:avLst/>
          </a:prstGeom>
          <a:ln w="1905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423160" y="1874519"/>
            <a:ext cx="1664208" cy="896112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useEffect
onChange(ids)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23944" y="2322576"/>
            <a:ext cx="356616" cy="0"/>
          </a:xfrm>
          <a:prstGeom prst="line">
            <a:avLst/>
          </a:prstGeom>
          <a:ln w="1905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343400" y="1874519"/>
            <a:ext cx="1664208" cy="896112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421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App
handleFilterChange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44184" y="2322576"/>
            <a:ext cx="356616" cy="0"/>
          </a:xfrm>
          <a:prstGeom prst="line">
            <a:avLst/>
          </a:prstGeom>
          <a:ln w="19050">
            <a:solidFill>
              <a:srgbClr val="1421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263640" y="1874519"/>
            <a:ext cx="1664208" cy="896112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localStorage
JSON 저장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964423" y="2322576"/>
            <a:ext cx="356617" cy="0"/>
          </a:xfrm>
          <a:prstGeom prst="line">
            <a:avLst/>
          </a:prstGeom>
          <a:ln w="19050">
            <a:solidFill>
              <a:srgbClr val="F59E0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183879" y="1874519"/>
            <a:ext cx="1664208" cy="896112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testData.filter
policyId 기준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884663" y="2322576"/>
            <a:ext cx="356617" cy="0"/>
          </a:xfrm>
          <a:prstGeom prst="line">
            <a:avLst/>
          </a:prstGeom>
          <a:ln w="1905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10104119" y="1874519"/>
            <a:ext cx="1664208" cy="896112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030">
                <a:solidFill>
                  <a:srgbClr val="0F172A"/>
                </a:solidFill>
                <a:latin typeface="Noto Sans CJK KR"/>
              </a:rPr>
              <a:t>TableView
tableData 렌더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" y="3886200"/>
            <a:ext cx="3108960" cy="123444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68680" y="3886200"/>
            <a:ext cx="310896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선택 0개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7552" y="4416552"/>
            <a:ext cx="2871215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checkedPolicyIds가 빈 배열이면 TableView는 전체 testData로 복원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26280" y="3886200"/>
            <a:ext cx="3108960" cy="123444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26280" y="3886200"/>
            <a:ext cx="3108960" cy="3931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새로고침 복원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4416552"/>
            <a:ext cx="2871215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useState lazy initializer에서 localStorage를 최초 1회 읽음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3886200"/>
            <a:ext cx="3108960" cy="12344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183879" y="3886200"/>
            <a:ext cx="3108960" cy="39319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의존성 안정화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4416552"/>
            <a:ext cx="2871215" cy="612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00">
                <a:solidFill>
                  <a:srgbClr val="0F172A"/>
                </a:solidFill>
                <a:latin typeface="Noto Sans CJK KR"/>
              </a:rPr>
              <a:t>handleFilterChange는 useCallback으로 자식 effect 의존성을 안정화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React 문법 매핑: 알고리즘을 화면 동작으로 연결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각 알고리즘은 React hook과 렌더링 패턴으로 역할이 분리되어 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325880"/>
            <a:ext cx="2743200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1080">
                <a:solidFill>
                  <a:srgbClr val="FFFFFF"/>
                </a:solidFill>
                <a:latin typeface="Noto Sans CJK KR"/>
              </a:rPr>
              <a:t>알고리즘/상태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40" y="1325880"/>
            <a:ext cx="2880360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1080">
                <a:solidFill>
                  <a:srgbClr val="FFFFFF"/>
                </a:solidFill>
                <a:latin typeface="Noto Sans CJK KR"/>
              </a:rPr>
              <a:t>React 문법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325880"/>
            <a:ext cx="4846320" cy="384048"/>
          </a:xfrm>
          <a:prstGeom prst="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1080">
                <a:solidFill>
                  <a:srgbClr val="FFFFFF"/>
                </a:solidFill>
                <a:latin typeface="Noto Sans CJK KR"/>
              </a:rPr>
              <a:t>역할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1773936"/>
            <a:ext cx="274320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makeTree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40" y="1773936"/>
            <a:ext cx="288036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useMemo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73936"/>
            <a:ext cx="484632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originData가 바뀔 때만 flat → tree 변환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231136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checkedMap 초기화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231136"/>
            <a:ext cx="28803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useState lazy init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2231136"/>
            <a:ext cx="4846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defaultCheckedIds를 첫 마운트에만 반영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88336"/>
            <a:ext cx="274320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토글/체크 변경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520440" y="2688336"/>
            <a:ext cx="288036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setState(prev =&gt; next)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688336"/>
            <a:ext cx="484632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이전 상태 기반으로 안전하게 갱신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145536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검색 필터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0440" y="3145536"/>
            <a:ext cx="28803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useMemo([tree, keyword])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3145536"/>
            <a:ext cx="4846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검색어 변화에만 filteredTree 재계산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602736"/>
            <a:ext cx="274320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자동 펼침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520440" y="3602736"/>
            <a:ext cx="288036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useEffect([searchValue, tree])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3602736"/>
            <a:ext cx="484632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검색 후 openMap을 한 번에 갱신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059935"/>
            <a:ext cx="274320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checkbox UI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520440" y="4059935"/>
            <a:ext cx="288036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controlled input + ref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59935"/>
            <a:ext cx="4846320" cy="438912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checked는 prop, indeterminate는 DOM ref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517136"/>
            <a:ext cx="274320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1" sz="940">
                <a:solidFill>
                  <a:srgbClr val="0F172A"/>
                </a:solidFill>
                <a:latin typeface="Noto Sans CJK KR"/>
              </a:rPr>
              <a:t>Table 동기화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520440" y="4517136"/>
            <a:ext cx="288036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ctr"/>
            <a:r>
              <a:rPr b="0" sz="940">
                <a:solidFill>
                  <a:srgbClr val="0F172A"/>
                </a:solidFill>
                <a:latin typeface="Noto Sans CJK KR"/>
              </a:rPr>
              <a:t>props + useCallback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517136"/>
            <a:ext cx="4846320" cy="438912"/>
          </a:xfrm>
          <a:prstGeom prst="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54864" bIns="54864" wrap="square"/>
          <a:lstStyle/>
          <a:p>
            <a:pPr algn="l"/>
            <a:r>
              <a:rPr b="0" sz="940">
                <a:solidFill>
                  <a:srgbClr val="0F172A"/>
                </a:solidFill>
                <a:latin typeface="Noto Sans CJK KR"/>
              </a:rPr>
              <a:t>FilterView → App → TableView 데이터 흐름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57400" y="5285232"/>
            <a:ext cx="6858000" cy="292608"/>
          </a:xfrm>
          <a:prstGeom prst="round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16A34A"/>
                </a:solidFill>
                <a:latin typeface="Noto Sans CJK KR"/>
              </a:rPr>
              <a:t>핵심: 원본 데이터는 변경하지 않고, 화면 상태와 파생 데이터를 React가 관리한다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테스트로 검증한 사용자 시나리오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알고리즘 단위보다 실제 사용자 흐름을 E2E에 가깝게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508760"/>
            <a:ext cx="3246120" cy="3383280"/>
          </a:xfrm>
          <a:prstGeom prst="roundRect">
            <a:avLst/>
          </a:prstGeom>
          <a:solidFill>
            <a:srgbClr val="DBEAFE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508760"/>
            <a:ext cx="3246120" cy="39319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1. 검색 → leaf 선택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039112"/>
            <a:ext cx="30083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F172A"/>
                </a:solidFill>
                <a:latin typeface="Noto Sans CJK KR"/>
              </a:rPr>
              <a:t>검색창에 “만료일” 입력
매칭 leaf 선택
선택 태그 생성 확인
TableView에 AWS-ACM-002만 남는지 확인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246120" cy="3383280"/>
          </a:xfrm>
          <a:prstGeom prst="roundRect">
            <a:avLst/>
          </a:prstGeom>
          <a:solidFill>
            <a:srgbClr val="FEF3C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434840" y="1508760"/>
            <a:ext cx="3246120" cy="39319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2. 태그 X → 복원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2039112"/>
            <a:ext cx="30083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F172A"/>
                </a:solidFill>
                <a:latin typeface="Noto Sans CJK KR"/>
              </a:rPr>
              <a:t>생성된 태그의 X 클릭
checkedMap에서 해당 policyId false
태그 제거 확인
선택 0개 상태에서 테이블 전체 복원 확인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508760"/>
            <a:ext cx="3246120" cy="338328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092440" y="1508760"/>
            <a:ext cx="3246120" cy="393192"/>
          </a:xfrm>
          <a:prstGeom prst="round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Noto Sans CJK KR"/>
              </a:rPr>
              <a:t>3. localStorage 복원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1312" y="2039112"/>
            <a:ext cx="3008376" cy="2761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150">
                <a:solidFill>
                  <a:srgbClr val="0F172A"/>
                </a:solidFill>
                <a:latin typeface="Noto Sans CJK KR"/>
              </a:rPr>
              <a:t>선택 후 컴포넌트 unmount
App 재렌더
localStorage의 policyId 배열을 lazy init으로 읽음
태그 복원 확인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03120" y="5413248"/>
            <a:ext cx="7955279" cy="292608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" rIns="27432" tIns="27432" bIns="27432" wrap="square"/>
          <a:lstStyle/>
          <a:p>
            <a:pPr algn="ctr"/>
            <a:r>
              <a:rPr b="1" sz="919">
                <a:solidFill>
                  <a:srgbClr val="0F172A"/>
                </a:solidFill>
                <a:latin typeface="Noto Sans CJK KR"/>
              </a:rPr>
              <a:t>검증 범위: 검색 UI, 체크 상태, 태그 삭제, 테이블 필터링, 새로고침 유지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292608"/>
            <a:ext cx="502920" cy="32004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Noto Sans CJK KR"/>
              </a:rPr>
              <a:t>14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1" sz="2300">
                <a:solidFill>
                  <a:srgbClr val="14213D"/>
                </a:solidFill>
                <a:latin typeface="Noto Sans CJK KR"/>
              </a:rPr>
              <a:t>마무리: 설계 한 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758952"/>
            <a:ext cx="10698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sz="1050">
                <a:solidFill>
                  <a:srgbClr val="64748B"/>
                </a:solidFill>
                <a:latin typeface="Noto Sans CJK KR"/>
              </a:rPr>
              <a:t>Flat 원본 + 파생 트리 + 분리된 UI state가 검색과 선택을 안정적으로 만든다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051560"/>
            <a:ext cx="10972800" cy="1371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143000"/>
          </a:xfrm>
          <a:prstGeom prst="roundRect">
            <a:avLst/>
          </a:prstGeom>
          <a:solidFill>
            <a:srgbClr val="142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500">
                <a:solidFill>
                  <a:srgbClr val="FFFFFF"/>
                </a:solidFill>
                <a:latin typeface="Noto Sans CJK KR"/>
              </a:rPr>
              <a:t>1. 데이터 모델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019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FFFFFF"/>
                </a:solidFill>
                <a:latin typeface="Noto Sans CJK KR"/>
              </a:rPr>
              <a:t>testData는 flat으로 유지하고, makeTree / filteredTree를 파생 데이터로 둔다.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417320"/>
            <a:ext cx="5212080" cy="114300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500">
                <a:solidFill>
                  <a:srgbClr val="0F172A"/>
                </a:solidFill>
                <a:latin typeface="Noto Sans CJK KR"/>
              </a:rPr>
              <a:t>2. 재귀 알고리즘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90195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0F172A"/>
                </a:solidFill>
                <a:latin typeface="Noto Sans CJK KR"/>
              </a:rPr>
              <a:t>트리 생성, 검색 필터, 체크 전파, 태그 생성, 자동 펼침 모두 DFS 기반.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5212080" cy="114300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500">
                <a:solidFill>
                  <a:srgbClr val="0F172A"/>
                </a:solidFill>
                <a:latin typeface="Noto Sans CJK KR"/>
              </a:rPr>
              <a:t>3. 단순한 도구 선택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547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0F172A"/>
                </a:solidFill>
                <a:latin typeface="Noto Sans CJK KR"/>
              </a:rPr>
              <a:t>Map은 그룹핑, includes는 검색, interval merge는 하이라이트에 집중해서 사용.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3063240"/>
            <a:ext cx="5212080" cy="114300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500">
                <a:solidFill>
                  <a:srgbClr val="0F172A"/>
                </a:solidFill>
                <a:latin typeface="Noto Sans CJK KR"/>
              </a:rPr>
              <a:t>4. React 연결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547872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0" sz="1200">
                <a:solidFill>
                  <a:srgbClr val="0F172A"/>
                </a:solidFill>
                <a:latin typeface="Noto Sans CJK KR"/>
              </a:rPr>
              <a:t>useMemo, useEffect, useState lazy, controlled input, ref, props 흐름으로 구현.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148840" y="5074920"/>
            <a:ext cx="7909560" cy="7498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 wrap="square"/>
          <a:lstStyle/>
          <a:p>
            <a:pPr algn="ctr"/>
            <a:r>
              <a:rPr b="1" sz="1800">
                <a:solidFill>
                  <a:srgbClr val="FFFFFF"/>
                </a:solidFill>
                <a:latin typeface="Noto Sans CJK KR"/>
              </a:rPr>
              <a:t>검색과 선택은 서로 다른 상태다. 그래서 둘을 분리하면 UI가 단순해진다.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6510528"/>
            <a:ext cx="2240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850">
                <a:solidFill>
                  <a:srgbClr val="64748B"/>
                </a:solidFill>
                <a:latin typeface="Noto Sans CJK KR"/>
              </a:rPr>
              <a:t>Flat 정책 목록 → 계층 필터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