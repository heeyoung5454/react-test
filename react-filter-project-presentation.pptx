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74320"/>
            <a:ext cx="566928" cy="3840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9418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Noto Sans CJK KR"/>
              </a:rPr>
              <a:t>React 필터 과제 발표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94944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oto Sans CJK KR"/>
              </a:rPr>
              <a:t>flat 정책 목록 → 계층 필터 UI → 선택 결과를 테이블과 동기화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1060704"/>
            <a:ext cx="1141171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828800"/>
            <a:ext cx="1828800" cy="960120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20240"/>
            <a:ext cx="16093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CJK KR"/>
              </a:rPr>
              <a:t>testData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286000"/>
            <a:ext cx="153619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flat array
policyId / main / sub / minor / name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80" y="2304288"/>
            <a:ext cx="9601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94760" y="1508760"/>
            <a:ext cx="1828800" cy="1600200"/>
          </a:xfrm>
          <a:prstGeom prst="round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4488" y="1600200"/>
            <a:ext cx="16093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Noto Sans CJK KR"/>
              </a:rPr>
              <a:t>makeTree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1064" y="1965960"/>
            <a:ext cx="1536192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main &gt; sub &gt; minor/name
leafCount 계산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720" y="2304288"/>
            <a:ext cx="9601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0" y="1508760"/>
            <a:ext cx="1828800" cy="1600200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1600200"/>
            <a:ext cx="16093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16A34A"/>
                </a:solidFill>
                <a:latin typeface="Noto Sans CJK KR"/>
              </a:rPr>
              <a:t>FilterView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1965960"/>
            <a:ext cx="1536192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검색 · 체크 · 태그
openMap / checkedMap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23960" y="2304288"/>
            <a:ext cx="9601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21240" y="1828800"/>
            <a:ext cx="1600200" cy="960120"/>
          </a:xfrm>
          <a:prstGeom prst="roundRect">
            <a:avLst/>
          </a:prstGeom>
          <a:solidFill>
            <a:srgbClr val="CFFAFE"/>
          </a:solidFill>
          <a:ln w="1397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0967" y="1920240"/>
            <a:ext cx="13807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891B2"/>
                </a:solidFill>
                <a:latin typeface="Noto Sans CJK KR"/>
              </a:rPr>
              <a:t>TableView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67544" y="2286000"/>
            <a:ext cx="130759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선택된 id만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160520"/>
            <a:ext cx="256032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251959"/>
            <a:ext cx="234086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Noto Sans CJK KR"/>
              </a:rPr>
              <a:t>핵심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4617720"/>
            <a:ext cx="226771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데이터를 트리로 바꾸는 알고리즘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4160520"/>
            <a:ext cx="256032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4251959"/>
            <a:ext cx="234086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Noto Sans CJK KR"/>
              </a:rPr>
              <a:t>핵심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01184" y="4617720"/>
            <a:ext cx="226771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검색·체크·태그 상태 설계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4160520"/>
            <a:ext cx="256032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4251959"/>
            <a:ext cx="234086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Noto Sans CJK KR"/>
              </a:rPr>
              <a:t>핵심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4" y="4617720"/>
            <a:ext cx="2267712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React Hooks로 렌더링 최적화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6272784"/>
            <a:ext cx="11411712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KR"/>
              </a:rPr>
              <a:t>발표 포인트: Vue 개발 경험을 React의 state / memo / effect 모델로 옮겨 구현했다는 흐름으로 시작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74320"/>
            <a:ext cx="566928" cy="3840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9418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Noto Sans CJK KR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94944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oto Sans CJK KR"/>
              </a:rPr>
              <a:t>요구사항이 늘어날수록 원본 데이터와 UI 상태를 분리해야 안정적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1060704"/>
            <a:ext cx="1141171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31520" y="1536192"/>
            <a:ext cx="640080" cy="640080"/>
          </a:xfrm>
          <a:prstGeom prst="ellipse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KR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760" y="1417320"/>
            <a:ext cx="2606040" cy="868680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8488" y="1508760"/>
            <a:ext cx="23865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Noto Sans CJK KR"/>
              </a:rPr>
              <a:t>계층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3" y="1874519"/>
            <a:ext cx="2313432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main → sub → minor → name</a:t>
            </a:r>
          </a:p>
        </p:txBody>
      </p:sp>
      <p:sp>
        <p:nvSpPr>
          <p:cNvPr id="10" name="Oval 9"/>
          <p:cNvSpPr/>
          <p:nvPr/>
        </p:nvSpPr>
        <p:spPr>
          <a:xfrm>
            <a:off x="4434840" y="1536192"/>
            <a:ext cx="640080" cy="640080"/>
          </a:xfrm>
          <a:prstGeom prst="ellipse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KR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9" y="1417320"/>
            <a:ext cx="2606040" cy="868680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7" y="1508760"/>
            <a:ext cx="23865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Noto Sans CJK KR"/>
              </a:rPr>
              <a:t>그룹 체크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8383" y="1874519"/>
            <a:ext cx="2313432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전체 / 일부 / 해제</a:t>
            </a:r>
          </a:p>
        </p:txBody>
      </p:sp>
      <p:sp>
        <p:nvSpPr>
          <p:cNvPr id="14" name="Oval 13"/>
          <p:cNvSpPr/>
          <p:nvPr/>
        </p:nvSpPr>
        <p:spPr>
          <a:xfrm>
            <a:off x="8138160" y="1536192"/>
            <a:ext cx="640080" cy="6400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KR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417320"/>
            <a:ext cx="2606040" cy="868680"/>
          </a:xfrm>
          <a:prstGeom prst="roundRect">
            <a:avLst/>
          </a:prstGeom>
          <a:solidFill>
            <a:srgbClr val="FEF3C7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5128" y="1508760"/>
            <a:ext cx="23865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D97706"/>
                </a:solidFill>
                <a:latin typeface="Noto Sans CJK KR"/>
              </a:rPr>
              <a:t>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4" y="1874519"/>
            <a:ext cx="2313432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트리 축소 + 하이라이트 + 펼침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2770632"/>
            <a:ext cx="640080" cy="640080"/>
          </a:xfrm>
          <a:prstGeom prst="ellipse">
            <a:avLst/>
          </a:prstGeom>
          <a:solidFill>
            <a:srgbClr val="EDE9FE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Noto Sans CJK KR"/>
              </a:rP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08760" y="2651760"/>
            <a:ext cx="2606040" cy="868680"/>
          </a:xfrm>
          <a:prstGeom prst="round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18488" y="2743200"/>
            <a:ext cx="23865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Noto Sans CJK KR"/>
              </a:rPr>
              <a:t>태그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5063" y="3108960"/>
            <a:ext cx="2313432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선택 요약 + X 해제</a:t>
            </a:r>
          </a:p>
        </p:txBody>
      </p:sp>
      <p:sp>
        <p:nvSpPr>
          <p:cNvPr id="22" name="Oval 21"/>
          <p:cNvSpPr/>
          <p:nvPr/>
        </p:nvSpPr>
        <p:spPr>
          <a:xfrm>
            <a:off x="4434840" y="2770632"/>
            <a:ext cx="640080" cy="640080"/>
          </a:xfrm>
          <a:prstGeom prst="ellipse">
            <a:avLst/>
          </a:prstGeom>
          <a:solidFill>
            <a:srgbClr val="CFFAFE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0891B2"/>
                </a:solidFill>
                <a:latin typeface="Noto Sans CJK KR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9" y="2651760"/>
            <a:ext cx="2606040" cy="868680"/>
          </a:xfrm>
          <a:prstGeom prst="roundRect">
            <a:avLst/>
          </a:prstGeom>
          <a:solidFill>
            <a:srgbClr val="CFFAFE"/>
          </a:solidFill>
          <a:ln w="1397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21807" y="2743200"/>
            <a:ext cx="23865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0891B2"/>
                </a:solidFill>
                <a:latin typeface="Noto Sans CJK KR"/>
              </a:rPr>
              <a:t>테이블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3" y="3108960"/>
            <a:ext cx="2313432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policyId 기준 필터링</a:t>
            </a:r>
          </a:p>
        </p:txBody>
      </p:sp>
      <p:sp>
        <p:nvSpPr>
          <p:cNvPr id="26" name="Oval 25"/>
          <p:cNvSpPr/>
          <p:nvPr/>
        </p:nvSpPr>
        <p:spPr>
          <a:xfrm>
            <a:off x="8138160" y="2770632"/>
            <a:ext cx="640080" cy="640080"/>
          </a:xfrm>
          <a:prstGeom prst="ellipse">
            <a:avLst/>
          </a:prstGeom>
          <a:solidFill>
            <a:srgbClr val="FFE4E6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E11D48"/>
                </a:solidFill>
                <a:latin typeface="Noto Sans CJK KR"/>
              </a:rP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2651760"/>
            <a:ext cx="2606040" cy="868680"/>
          </a:xfrm>
          <a:prstGeom prst="roundRect">
            <a:avLst/>
          </a:prstGeom>
          <a:solidFill>
            <a:srgbClr val="FFE4E6"/>
          </a:solidFill>
          <a:ln w="1397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5128" y="2743200"/>
            <a:ext cx="23865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E11D48"/>
                </a:solidFill>
                <a:latin typeface="Noto Sans CJK KR"/>
              </a:rPr>
              <a:t>복원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4" y="3108960"/>
            <a:ext cx="2313432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localStorage 유지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4434840"/>
            <a:ext cx="2788920" cy="841248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" y="4526279"/>
            <a:ext cx="256946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CBD5E1"/>
                </a:solidFill>
                <a:latin typeface="Noto Sans CJK KR"/>
              </a:rPr>
              <a:t>처음 접근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" y="4892040"/>
            <a:ext cx="249631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testData에 isOpen / isChecked 삽입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86200" y="4846320"/>
            <a:ext cx="1280160" cy="0"/>
          </a:xfrm>
          <a:prstGeom prst="line">
            <a:avLst/>
          </a:prstGeom>
          <a:ln w="2540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349240" y="4206240"/>
            <a:ext cx="1965960" cy="1298448"/>
          </a:xfrm>
          <a:prstGeom prst="roundRect">
            <a:avLst/>
          </a:prstGeom>
          <a:solidFill>
            <a:srgbClr val="FFE4E6"/>
          </a:solidFill>
          <a:ln w="1397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58968" y="4297679"/>
            <a:ext cx="17465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E11D48"/>
                </a:solidFill>
                <a:latin typeface="Noto Sans CJK KR"/>
              </a:rPr>
              <a:t>문제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95544" y="4663440"/>
            <a:ext cx="1673351" cy="7955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검색 결과 트리와
원본 상태가 갈라짐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98079" y="4846320"/>
            <a:ext cx="960121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641080" y="4434840"/>
            <a:ext cx="2514600" cy="841248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50807" y="4526279"/>
            <a:ext cx="22951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KR"/>
              </a:rPr>
              <a:t>최종 설계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7384" y="4892040"/>
            <a:ext cx="2221992" cy="338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도메인 데이터 + UI state 분리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6272784"/>
            <a:ext cx="11411712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KR"/>
              </a:rPr>
              <a:t>발표 포인트: 문제는 단순 화면 구현이 아니라 검색 결과와 선택 상태가 꼬이지 않는 구조를 만드는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74320"/>
            <a:ext cx="566928" cy="3840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9418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Noto Sans CJK KR"/>
              </a:rPr>
              <a:t>Flat → Tree: makeTree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94944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oto Sans CJK KR"/>
              </a:rPr>
              <a:t>flat API/테이블 데이터를 필터 UI에 맞는 계층 구조로 변환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1060704"/>
            <a:ext cx="1141171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325880"/>
            <a:ext cx="1508760" cy="749808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17320"/>
            <a:ext cx="12893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KR"/>
              </a:rPr>
              <a:t>1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783080"/>
            <a:ext cx="1216151" cy="246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Map으로 그룹핑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1700784"/>
            <a:ext cx="5029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1325880"/>
            <a:ext cx="1508760" cy="749808"/>
          </a:xfrm>
          <a:prstGeom prst="roundRect">
            <a:avLst/>
          </a:prstGeom>
          <a:solidFill>
            <a:srgbClr val="CFFAFE"/>
          </a:solidFill>
          <a:ln w="1397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1417320"/>
            <a:ext cx="12893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891B2"/>
                </a:solidFill>
                <a:latin typeface="Noto Sans CJK KR"/>
              </a:rPr>
              <a:t>2 sub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104" y="1783080"/>
            <a:ext cx="1216151" cy="246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children.find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1700784"/>
            <a:ext cx="5029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1325880"/>
            <a:ext cx="1691640" cy="749808"/>
          </a:xfrm>
          <a:prstGeom prst="round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417320"/>
            <a:ext cx="14721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Noto Sans CJK KR"/>
              </a:rPr>
              <a:t>3 minor?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1783080"/>
            <a:ext cx="1399032" cy="246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있으면 minor 아래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86600" y="1700784"/>
            <a:ext cx="5029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26679" y="1325880"/>
            <a:ext cx="1508760" cy="749808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6407" y="1417320"/>
            <a:ext cx="12893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KR"/>
              </a:rPr>
              <a:t>4 leaf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2983" y="1783080"/>
            <a:ext cx="1216151" cy="246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name + policyId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1700784"/>
            <a:ext cx="50292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012680" y="1325880"/>
            <a:ext cx="1508760" cy="749808"/>
          </a:xfrm>
          <a:prstGeom prst="roundRect">
            <a:avLst/>
          </a:prstGeom>
          <a:solidFill>
            <a:srgbClr val="FEF3C7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22407" y="1417320"/>
            <a:ext cx="12893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KR"/>
              </a:rPr>
              <a:t>5 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58984" y="1783080"/>
            <a:ext cx="1216151" cy="246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DFS 합산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2743200"/>
            <a:ext cx="2148840" cy="329184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0">
                <a:solidFill>
                  <a:srgbClr val="0F172A"/>
                </a:solidFill>
                <a:latin typeface="Noto Sans CJK KR"/>
              </a:rPr>
              <a:t>Identity &amp; Crypto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81912" y="3246120"/>
            <a:ext cx="2148840" cy="329184"/>
          </a:xfrm>
          <a:prstGeom prst="roundRect">
            <a:avLst/>
          </a:prstGeom>
          <a:solidFill>
            <a:srgbClr val="CFF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0">
                <a:solidFill>
                  <a:srgbClr val="0F172A"/>
                </a:solidFill>
                <a:latin typeface="Noto Sans CJK KR"/>
              </a:rPr>
              <a:t>Certificate Manager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627632" y="3072384"/>
            <a:ext cx="246887" cy="33832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295144" y="3749039"/>
            <a:ext cx="2423160" cy="329184"/>
          </a:xfrm>
          <a:prstGeom prst="roundRect">
            <a:avLst/>
          </a:prstGeom>
          <a:solidFill>
            <a:srgbClr val="DCFCE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ACM 인증서 만료일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340863" y="3575303"/>
            <a:ext cx="246889" cy="33832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581912" y="4251960"/>
            <a:ext cx="2148840" cy="329184"/>
          </a:xfrm>
          <a:prstGeom prst="roundRect">
            <a:avLst/>
          </a:prstGeom>
          <a:solidFill>
            <a:srgbClr val="CFF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IAM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627632" y="3072384"/>
            <a:ext cx="246887" cy="13441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295144" y="4754880"/>
            <a:ext cx="2423160" cy="329184"/>
          </a:xfrm>
          <a:prstGeom prst="roundRect">
            <a:avLst/>
          </a:prstGeom>
          <a:solidFill>
            <a:srgbClr val="EDE9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0">
                <a:solidFill>
                  <a:srgbClr val="0F172A"/>
                </a:solidFill>
                <a:latin typeface="Noto Sans CJK KR"/>
              </a:rPr>
              <a:t>IAM Configuration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2340863" y="4581144"/>
            <a:ext cx="246889" cy="33832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008376" y="5257800"/>
            <a:ext cx="2423160" cy="329184"/>
          </a:xfrm>
          <a:prstGeom prst="roundRect">
            <a:avLst/>
          </a:prstGeom>
          <a:solidFill>
            <a:srgbClr val="DCFCE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액세스 키 교체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054096" y="5084064"/>
            <a:ext cx="246888" cy="33832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903720" y="2880360"/>
            <a:ext cx="393192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13448" y="2971800"/>
            <a:ext cx="371246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Noto Sans CJK KR"/>
              </a:rPr>
              <a:t>minor 분기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0024" y="3337560"/>
            <a:ext cx="363931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minor가 null이면 sub 바로 아래에 leaf 연결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03720" y="3886200"/>
            <a:ext cx="393192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3448" y="3977639"/>
            <a:ext cx="371246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KR"/>
              </a:rPr>
              <a:t>leafCount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0024" y="4343400"/>
            <a:ext cx="363931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그룹의 하위 leaf 수 → 화면의 (12), all(12)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03720" y="4937760"/>
            <a:ext cx="3931920" cy="393192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Noto Sans CJK KR"/>
              </a:rPr>
              <a:t>const tree = useMemo(() =&gt; makeTree(originData), [originData])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4048" y="6272784"/>
            <a:ext cx="11411712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KR"/>
              </a:rPr>
              <a:t>발표 포인트: makeTree는 원본 데이터를 바꾸지 않고 UI 전용 트리만 만드는 전처리 단계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74320"/>
            <a:ext cx="566928" cy="3840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9418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Noto Sans CJK KR"/>
              </a:rPr>
              <a:t>상태 분리: openMap / checkedMap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94944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oto Sans CJK KR"/>
              </a:rPr>
              <a:t>펼침 상태와 선택 상태를 각각 다른 key 체계로 관리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1060704"/>
            <a:ext cx="1141171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68680" y="1417320"/>
            <a:ext cx="4572000" cy="1508760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1508760"/>
            <a:ext cx="43525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Noto Sans CJK KR"/>
              </a:rPr>
              <a:t>openMap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1874519"/>
            <a:ext cx="4279392" cy="10058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"main&gt;sub&gt;minor" → boolean
펼침/접힘과 검색 자동 펼침에 사용
getKey(...labels) = labels.join("&gt;")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417320"/>
            <a:ext cx="4572000" cy="1508760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1508760"/>
            <a:ext cx="43525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16A34A"/>
                </a:solidFill>
                <a:latin typeface="Noto Sans CJK KR"/>
              </a:rPr>
              <a:t>checkedMap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144" y="1874519"/>
            <a:ext cx="4279392" cy="10058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policyId → boolean
leaf 선택 상태의 단일 source
App / localStorage / Table 필터와 연결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96128" y="2176272"/>
            <a:ext cx="941832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32120" y="1865376"/>
            <a:ext cx="11430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Noto Sans CJK KR"/>
              </a:rPr>
              <a:t>성격이 다름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86200"/>
            <a:ext cx="260604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7" y="3977639"/>
            <a:ext cx="23865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Noto Sans CJK KR"/>
              </a:rPr>
              <a:t>lazy initializer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3" y="4343400"/>
            <a:ext cx="231343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초기 마운트 때만
props/localStorage 읽기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886200"/>
            <a:ext cx="260604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0208" y="3977639"/>
            <a:ext cx="23865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KR"/>
              </a:rPr>
              <a:t>prev updater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6784" y="4343400"/>
            <a:ext cx="231343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setOpenMap(prev =&gt; next)
setCheckedMap(prev =&gt; next)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3886200"/>
            <a:ext cx="260604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2008" y="3977639"/>
            <a:ext cx="23865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KR"/>
              </a:rPr>
              <a:t>검색과 선택 분리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4343400"/>
            <a:ext cx="231343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filteredTree가 줄어도
checkedMap은 유지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3886200"/>
            <a:ext cx="150876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3807" y="3977639"/>
            <a:ext cx="128930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KR"/>
              </a:rPr>
              <a:t>!!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0384" y="4343400"/>
            <a:ext cx="1216151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undefined를
false로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6272784"/>
            <a:ext cx="11411712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KR"/>
              </a:rPr>
              <a:t>발표 포인트: 체크는 policyId 기준, 펼침은 경로 기준이라는 차이를 명확히 말하면 설계 의도가 잘 보임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3063240"/>
            <a:ext cx="1042416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Noto Sans CJK KR"/>
              </a:rPr>
              <a:t>openMap 동작: 경로 key를 기준으로 “열려 있는 노드”만 true로 저장하고, 렌더링에서 open 여부를 판단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1560" y="5074920"/>
            <a:ext cx="1920240" cy="621792"/>
          </a:xfrm>
          <a:prstGeom prst="roundRect">
            <a:avLst/>
          </a:prstGeom>
          <a:solidFill>
            <a:srgbClr val="DBEAFE"/>
          </a:solidFill>
          <a:ln w="1333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" y="5138928"/>
            <a:ext cx="177393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Noto Sans CJK KR"/>
              </a:rPr>
              <a:t>key 생성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422392"/>
            <a:ext cx="17373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19" b="0">
                <a:solidFill>
                  <a:srgbClr val="1F2937"/>
                </a:solidFill>
                <a:latin typeface="Noto Sans CJK KR"/>
              </a:rPr>
              <a:t>getKey(main, sub)
→ "main&gt;sub"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63240" y="5385816"/>
            <a:ext cx="45720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611880" y="5074920"/>
            <a:ext cx="1920240" cy="621792"/>
          </a:xfrm>
          <a:prstGeom prst="roundRect">
            <a:avLst/>
          </a:prstGeom>
          <a:solidFill>
            <a:srgbClr val="EDE9FE"/>
          </a:solidFill>
          <a:ln w="1333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5138928"/>
            <a:ext cx="177393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Noto Sans CJK KR"/>
              </a:rPr>
              <a:t>수동 토글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5422392"/>
            <a:ext cx="17373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19" b="0">
                <a:solidFill>
                  <a:srgbClr val="1F2937"/>
                </a:solidFill>
                <a:latin typeface="Noto Sans CJK KR"/>
              </a:rPr>
              <a:t>handleToggle(key)
prev[key] 반전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23560" y="5385816"/>
            <a:ext cx="45720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172200" y="5074920"/>
            <a:ext cx="1920240" cy="621792"/>
          </a:xfrm>
          <a:prstGeom prst="roundRect">
            <a:avLst/>
          </a:prstGeom>
          <a:solidFill>
            <a:srgbClr val="DCFCE7"/>
          </a:solidFill>
          <a:ln w="1333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5352" y="5138928"/>
            <a:ext cx="177393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Noto Sans CJK KR"/>
              </a:rPr>
              <a:t>검색 자동 열림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422392"/>
            <a:ext cx="17373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19" b="0">
                <a:solidFill>
                  <a:srgbClr val="1F2937"/>
                </a:solidFill>
                <a:latin typeface="Noto Sans CJK KR"/>
              </a:rPr>
              <a:t>markPath(path)
경로 key=true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183879" y="5385816"/>
            <a:ext cx="457201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732520" y="5074920"/>
            <a:ext cx="2148840" cy="621792"/>
          </a:xfrm>
          <a:prstGeom prst="roundRect">
            <a:avLst/>
          </a:prstGeom>
          <a:solidFill>
            <a:srgbClr val="FEF3C7"/>
          </a:solidFill>
          <a:ln w="1333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05672" y="5138928"/>
            <a:ext cx="200253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Noto Sans CJK KR"/>
              </a:rPr>
              <a:t>렌더 사용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5422392"/>
            <a:ext cx="19659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19" b="0">
                <a:solidFill>
                  <a:srgbClr val="1F2937"/>
                </a:solidFill>
                <a:latin typeface="Noto Sans CJK KR"/>
              </a:rPr>
              <a:t>isSearching ||
!!openMap[key]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74320"/>
            <a:ext cx="566928" cy="3840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9418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Noto Sans CJK KR"/>
              </a:rPr>
              <a:t>검색 필터: filteredTree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94944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oto Sans CJK KR"/>
              </a:rPr>
              <a:t>무엇을 보여줄지 결정하는 파생 데이터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1060704"/>
            <a:ext cx="1141171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325880"/>
            <a:ext cx="2057400" cy="658368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17320"/>
            <a:ext cx="183794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Noto Sans CJK KR"/>
              </a:rPr>
              <a:t>keyword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783080"/>
            <a:ext cx="1764792" cy="1554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return tree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1664208"/>
            <a:ext cx="5943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1325880"/>
            <a:ext cx="2057400" cy="658368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417320"/>
            <a:ext cx="183794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Noto Sans CJK KR"/>
              </a:rPr>
              <a:t>leaf(name)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3904" y="1783080"/>
            <a:ext cx="1764792" cy="1554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label.includes → node/null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60" y="1664208"/>
            <a:ext cx="5943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83680" y="1325880"/>
            <a:ext cx="2057400" cy="658368"/>
          </a:xfrm>
          <a:prstGeom prst="round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1417320"/>
            <a:ext cx="183794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Noto Sans CJK KR"/>
              </a:rPr>
              <a:t>그룹 매칭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1783080"/>
            <a:ext cx="1764792" cy="1554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하위 전체 노출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0" y="1664208"/>
            <a:ext cx="59436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09760" y="1325880"/>
            <a:ext cx="2057400" cy="658368"/>
          </a:xfrm>
          <a:prstGeom prst="roundRect">
            <a:avLst/>
          </a:prstGeom>
          <a:solidFill>
            <a:srgbClr val="FEF3C7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9488" y="1417320"/>
            <a:ext cx="183794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Noto Sans CJK KR"/>
              </a:rPr>
              <a:t>그 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783080"/>
            <a:ext cx="1764792" cy="1554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자식 prune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2743200"/>
            <a:ext cx="2148840" cy="329184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원본 tree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81912" y="3246120"/>
            <a:ext cx="21488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sub A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627632" y="3072384"/>
            <a:ext cx="246887" cy="33832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295144" y="3749039"/>
            <a:ext cx="242316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name X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340863" y="3575303"/>
            <a:ext cx="246889" cy="33832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581912" y="4251960"/>
            <a:ext cx="2148840" cy="329184"/>
          </a:xfrm>
          <a:prstGeom prst="roundRect">
            <a:avLst/>
          </a:prstGeom>
          <a:solidFill>
            <a:srgbClr val="CFF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sub B ✓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627632" y="3072384"/>
            <a:ext cx="246887" cy="13441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295144" y="4754880"/>
            <a:ext cx="2423160" cy="329184"/>
          </a:xfrm>
          <a:prstGeom prst="roundRect">
            <a:avLst/>
          </a:prstGeom>
          <a:solidFill>
            <a:srgbClr val="DCFCE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name Y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340863" y="4581144"/>
            <a:ext cx="246889" cy="33832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295144" y="5257800"/>
            <a:ext cx="2423160" cy="329184"/>
          </a:xfrm>
          <a:prstGeom prst="roundRect">
            <a:avLst/>
          </a:prstGeom>
          <a:solidFill>
            <a:srgbClr val="DCFCE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name Z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340863" y="4581144"/>
            <a:ext cx="246889" cy="84124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297680" y="3794760"/>
            <a:ext cx="109728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669280" y="3154680"/>
            <a:ext cx="2148840" cy="329184"/>
          </a:xfrm>
          <a:prstGeom prst="roundRect">
            <a:avLst/>
          </a:prstGeom>
          <a:solidFill>
            <a:srgbClr val="DBEAF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filteredTree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2512" y="3657600"/>
            <a:ext cx="2148840" cy="329184"/>
          </a:xfrm>
          <a:prstGeom prst="roundRect">
            <a:avLst/>
          </a:prstGeom>
          <a:solidFill>
            <a:srgbClr val="CFFAF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sub B ✓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6428232" y="3483864"/>
            <a:ext cx="246888" cy="338327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095744" y="4160520"/>
            <a:ext cx="2423160" cy="329184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name Y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7141464" y="3986784"/>
            <a:ext cx="246888" cy="33832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095744" y="4663440"/>
            <a:ext cx="2423160" cy="329184"/>
          </a:xfrm>
          <a:prstGeom prst="roundRect">
            <a:avLst/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name Z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7141464" y="3986784"/>
            <a:ext cx="246888" cy="84124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069080" y="5212080"/>
            <a:ext cx="3474720" cy="393192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2563EB"/>
                </a:solidFill>
                <a:latin typeface="Noto Sans CJK KR"/>
              </a:rPr>
              <a:t>useMemo([tree, normalizedSearchValue])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18120" y="5257800"/>
            <a:ext cx="2286000" cy="29260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Noto Sans CJK KR"/>
              </a:rPr>
              <a:t>tree는 직접 수정하지 않음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" y="6272784"/>
            <a:ext cx="11411712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KR"/>
              </a:rPr>
              <a:t>발표 포인트: 검색 결과 데이터는 filteredTree가 담당하고 main/sub/minor/name 모두 검색 대상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74320"/>
            <a:ext cx="566928" cy="3840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9418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Noto Sans CJK KR"/>
              </a:rPr>
              <a:t>검색 시 자동 펼침: useEffect + DFS + markPath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94944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oto Sans CJK KR"/>
              </a:rPr>
              <a:t>filteredTree와 openMap 갱신은 역할과 실행 시점이 다름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1060704"/>
            <a:ext cx="1141171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417320"/>
            <a:ext cx="1417320" cy="804672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08760"/>
            <a:ext cx="119786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Noto Sans CJK KR"/>
              </a:rPr>
              <a:t>1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1874519"/>
            <a:ext cx="1124712" cy="3017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setSearchValue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75688" y="1828800"/>
            <a:ext cx="329184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96312" y="1417320"/>
            <a:ext cx="1417320" cy="804672"/>
          </a:xfrm>
          <a:prstGeom prst="roundRect">
            <a:avLst/>
          </a:prstGeom>
          <a:solidFill>
            <a:srgbClr val="CFFAFE"/>
          </a:solidFill>
          <a:ln w="1397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508760"/>
            <a:ext cx="119786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891B2"/>
                </a:solidFill>
                <a:latin typeface="Noto Sans CJK KR"/>
              </a:rPr>
              <a:t>2 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2616" y="1874519"/>
            <a:ext cx="1124712" cy="3017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filteredTree 계산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77639" y="1828800"/>
            <a:ext cx="329185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98264" y="1417320"/>
            <a:ext cx="1417320" cy="804672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508760"/>
            <a:ext cx="119786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64748B"/>
                </a:solidFill>
                <a:latin typeface="Noto Sans CJK KR"/>
              </a:rPr>
              <a:t>3 paint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874519"/>
            <a:ext cx="1124712" cy="3017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화면 반영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79592" y="1828800"/>
            <a:ext cx="329184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0216" y="1417320"/>
            <a:ext cx="1417320" cy="804672"/>
          </a:xfrm>
          <a:prstGeom prst="round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1508760"/>
            <a:ext cx="119786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Noto Sans CJK KR"/>
              </a:rPr>
              <a:t>4 effect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874519"/>
            <a:ext cx="1124712" cy="3017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DFS + markPath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81544" y="1828800"/>
            <a:ext cx="329184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02168" y="1417320"/>
            <a:ext cx="1417320" cy="804672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508760"/>
            <a:ext cx="119786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Noto Sans CJK KR"/>
              </a:rPr>
              <a:t>5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1874519"/>
            <a:ext cx="1124712" cy="3017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setOpenMap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83496" y="1828800"/>
            <a:ext cx="329184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04120" y="1417320"/>
            <a:ext cx="1417320" cy="804672"/>
          </a:xfrm>
          <a:prstGeom prst="roundRect">
            <a:avLst/>
          </a:prstGeom>
          <a:solidFill>
            <a:srgbClr val="FEF3C7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3848" y="1508760"/>
            <a:ext cx="119786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D97706"/>
                </a:solidFill>
                <a:latin typeface="Noto Sans CJK KR"/>
              </a:rPr>
              <a:t>6 render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0424" y="1874519"/>
            <a:ext cx="1124712" cy="3017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openMap 반영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063240"/>
            <a:ext cx="3063240" cy="1051560"/>
          </a:xfrm>
          <a:prstGeom prst="roundRect">
            <a:avLst/>
          </a:prstGeom>
          <a:solidFill>
            <a:srgbClr val="CFFAFE"/>
          </a:solidFill>
          <a:ln w="1397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154680"/>
            <a:ext cx="28437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891B2"/>
                </a:solidFill>
                <a:latin typeface="Noto Sans CJK KR"/>
              </a:rPr>
              <a:t>filteredTree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" y="3520440"/>
            <a:ext cx="2770632" cy="548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검색 결과를 만드는 곳
중간 노드(main/sub/minor)도 매칭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3063240"/>
            <a:ext cx="3063240" cy="1051560"/>
          </a:xfrm>
          <a:prstGeom prst="round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36008" y="3154680"/>
            <a:ext cx="28437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7C3AED"/>
                </a:solidFill>
                <a:latin typeface="Noto Sans CJK KR"/>
              </a:rPr>
              <a:t>DFS effect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2584" y="3520440"/>
            <a:ext cx="2770632" cy="548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현재 코드는 leaf(name) 매칭 경로를
openMap에 기록하는 보조 로직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3063240"/>
            <a:ext cx="3063240" cy="1051560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7" y="3154680"/>
            <a:ext cx="28437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16A34A"/>
                </a:solidFill>
                <a:latin typeface="Noto Sans CJK KR"/>
              </a:rPr>
              <a:t>렌더 판단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3520440"/>
            <a:ext cx="2770632" cy="548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isSearching || !!openMap[key]
검색 중이면 열림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023360" y="3593592"/>
            <a:ext cx="347472" cy="0"/>
          </a:xfrm>
          <a:prstGeom prst="line">
            <a:avLst/>
          </a:prstGeom>
          <a:ln w="2540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26679" y="3593592"/>
            <a:ext cx="347473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920240" y="4892040"/>
            <a:ext cx="2834640" cy="6949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9968" y="4983479"/>
            <a:ext cx="26151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Noto Sans CJK KR"/>
              </a:rPr>
              <a:t>markPath(path)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66544" y="5349240"/>
            <a:ext cx="2542032" cy="1920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["main","sub","name"] → "main", "main&gt;sub", ...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892040"/>
            <a:ext cx="2834640" cy="6949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4983479"/>
            <a:ext cx="26151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E11D48"/>
                </a:solidFill>
                <a:latin typeface="Noto Sans CJK KR"/>
              </a:rPr>
              <a:t>주의 포인트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7104" y="5349240"/>
            <a:ext cx="2542032" cy="1920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sub/minor 검색 자체는 filteredTree에서 처리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" y="6272784"/>
            <a:ext cx="11411712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KR"/>
              </a:rPr>
              <a:t>발표 포인트: 면접 질문 대비: 검색 담당은 filteredTree, 자동 펼침 담당은 useEffect라고 분리해서 설명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5605272"/>
            <a:ext cx="2331720" cy="384048"/>
          </a:xfrm>
          <a:prstGeom prst="roundRect">
            <a:avLst/>
          </a:prstGeom>
          <a:solidFill>
            <a:srgbClr val="DBEAFE"/>
          </a:solidFill>
          <a:ln w="1333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" y="5669280"/>
            <a:ext cx="2185415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2563EB"/>
                </a:solidFill>
                <a:latin typeface="Noto Sans CJK KR"/>
              </a:rPr>
              <a:t>openMap 결과 예시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6120" y="5650992"/>
            <a:ext cx="1828800" cy="29260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00" b="1">
                <a:solidFill>
                  <a:srgbClr val="16A34A"/>
                </a:solidFill>
                <a:latin typeface="Noto Sans CJK KR"/>
              </a:rPr>
              <a:t>"Identity &amp; Crypto": true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57800" y="5650992"/>
            <a:ext cx="2103120" cy="292608"/>
          </a:xfrm>
          <a:prstGeom prst="round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00" b="1">
                <a:solidFill>
                  <a:srgbClr val="16A34A"/>
                </a:solidFill>
                <a:latin typeface="Noto Sans CJK KR"/>
              </a:rPr>
              <a:t>"Identity &amp; Crypto&gt;IAM": true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89520" y="5650992"/>
            <a:ext cx="1783080" cy="292608"/>
          </a:xfrm>
          <a:prstGeom prst="roundRect">
            <a:avLst/>
          </a:prstGeom>
          <a:solidFill>
            <a:srgbClr val="FFE4E6"/>
          </a:solidFill>
          <a:ln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00" b="1">
                <a:solidFill>
                  <a:srgbClr val="E11D48"/>
                </a:solidFill>
                <a:latin typeface="Noto Sans CJK KR"/>
              </a:rPr>
              <a:t>key 없음 = 닫힘(false)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55480" y="5596128"/>
            <a:ext cx="1691640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30" b="1">
                <a:solidFill>
                  <a:srgbClr val="E11D48"/>
                </a:solidFill>
                <a:latin typeface="Noto Sans CJK KR"/>
              </a:rPr>
              <a:t>검색어가 비면 setOpenMap({})로 자동 펼침 상태를 초기화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74320"/>
            <a:ext cx="566928" cy="3840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9418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Noto Sans CJK KR"/>
              </a:rPr>
              <a:t>체크박스 트리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94944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oto Sans CJK KR"/>
              </a:rPr>
              <a:t>그룹 체크 상태는 자식 leaf 상태에서 재귀적으로 계산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1060704"/>
            <a:ext cx="1141171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417320"/>
            <a:ext cx="2743200" cy="960120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08760"/>
            <a:ext cx="25237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Noto Sans CJK KR"/>
              </a:rPr>
              <a:t>isChecked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874519"/>
            <a:ext cx="245059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leaf: !!checkedMap[policyId]
그룹: children.every(isChecked)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417320"/>
            <a:ext cx="2743200" cy="960120"/>
          </a:xfrm>
          <a:prstGeom prst="roundRect">
            <a:avLst/>
          </a:prstGeom>
          <a:solidFill>
            <a:srgbClr val="FEF3C7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8888" y="1508760"/>
            <a:ext cx="25237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D97706"/>
                </a:solidFill>
                <a:latin typeface="Noto Sans CJK KR"/>
              </a:rPr>
              <a:t>isIndeterminate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1874519"/>
            <a:ext cx="245059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0 &lt; checked children &lt; total
checkbox.indeterminate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417320"/>
            <a:ext cx="2743200" cy="960120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1508760"/>
            <a:ext cx="25237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16A34A"/>
                </a:solidFill>
                <a:latin typeface="Noto Sans CJK KR"/>
              </a:rPr>
              <a:t>handleCheck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1874519"/>
            <a:ext cx="245059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그룹 클릭 → DFS
하위 leaf 일괄 true/false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154680"/>
            <a:ext cx="2148840" cy="329184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Compute 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81912" y="3657600"/>
            <a:ext cx="2148840" cy="329184"/>
          </a:xfrm>
          <a:prstGeom prst="roundRect">
            <a:avLst/>
          </a:prstGeom>
          <a:solidFill>
            <a:srgbClr val="CFF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EC2 ◩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627632" y="3483864"/>
            <a:ext cx="246887" cy="338327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295144" y="4160520"/>
            <a:ext cx="2423160" cy="329184"/>
          </a:xfrm>
          <a:prstGeom prst="roundRect">
            <a:avLst/>
          </a:prstGeom>
          <a:solidFill>
            <a:srgbClr val="DCFCE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AWS-EC2-001 ☑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340863" y="3986784"/>
            <a:ext cx="246889" cy="33832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295144" y="4663440"/>
            <a:ext cx="2423160" cy="329184"/>
          </a:xfrm>
          <a:prstGeom prst="roundRect">
            <a:avLst/>
          </a:prstGeom>
          <a:solidFill>
            <a:srgbClr val="FFE4E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AWS-EC2-002 □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340863" y="3986784"/>
            <a:ext cx="246889" cy="84124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581912" y="5166360"/>
            <a:ext cx="2148840" cy="329184"/>
          </a:xfrm>
          <a:prstGeom prst="roundRect">
            <a:avLst/>
          </a:prstGeom>
          <a:solidFill>
            <a:srgbClr val="CFF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Lambda ☑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627632" y="3483864"/>
            <a:ext cx="246887" cy="184708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295144" y="5669280"/>
            <a:ext cx="2423160" cy="329184"/>
          </a:xfrm>
          <a:prstGeom prst="roundRect">
            <a:avLst/>
          </a:prstGeom>
          <a:solidFill>
            <a:srgbClr val="DCFCE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AWS-LAM-002 ☑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340863" y="5495544"/>
            <a:ext cx="246889" cy="33832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51960" y="4069080"/>
            <a:ext cx="100584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486400" y="3429000"/>
            <a:ext cx="2560320" cy="12618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96128" y="3520440"/>
            <a:ext cx="234086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KR"/>
              </a:rPr>
              <a:t>controlled 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32704" y="3886200"/>
            <a:ext cx="2267712" cy="7589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checked={isChecked(node)}
onChange={handleCheck}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3429000"/>
            <a:ext cx="2560320" cy="12618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6488" y="3520440"/>
            <a:ext cx="234086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KR"/>
              </a:rPr>
              <a:t>DOM ref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3064" y="3886200"/>
            <a:ext cx="2267712" cy="7589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React prop이 아니므로
el.indeterminate 직접 설정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6272784"/>
            <a:ext cx="11411712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KR"/>
              </a:rPr>
              <a:t>발표 포인트: checkedMap은 leaf만 저장하고, 그룹 checked/partial 상태는 렌더 시 계산한다는 점이 핵심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74320"/>
            <a:ext cx="566928" cy="3840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9418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Noto Sans CJK KR"/>
              </a:rPr>
              <a:t>하이라이트: highlightLabel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94944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oto Sans CJK KR"/>
              </a:rPr>
              <a:t>검색어 토큰의 모든 매칭 구간을 찾아 JSX span으로 분리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1060704"/>
            <a:ext cx="1141171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417320"/>
            <a:ext cx="1828800" cy="749808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08760"/>
            <a:ext cx="16093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Noto Sans CJK KR"/>
              </a:rPr>
              <a:t>normalize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1874519"/>
            <a:ext cx="1536192" cy="246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소문자·공백 정리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80" y="1792224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83280" y="1417320"/>
            <a:ext cx="1828800" cy="749808"/>
          </a:xfrm>
          <a:prstGeom prst="roundRect">
            <a:avLst/>
          </a:prstGeom>
          <a:solidFill>
            <a:srgbClr val="CFFAFE"/>
          </a:solidFill>
          <a:ln w="1397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508760"/>
            <a:ext cx="16093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0891B2"/>
                </a:solidFill>
                <a:latin typeface="Noto Sans CJK KR"/>
              </a:rPr>
              <a:t>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1874519"/>
            <a:ext cx="1536192" cy="246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공백 기준 토큰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49240" y="1792224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35040" y="1417320"/>
            <a:ext cx="1828800" cy="749808"/>
          </a:xfrm>
          <a:prstGeom prst="roundRect">
            <a:avLst/>
          </a:prstGeom>
          <a:solidFill>
            <a:srgbClr val="FEF3C7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508760"/>
            <a:ext cx="16093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Noto Sans CJK KR"/>
              </a:rPr>
              <a:t>indexOf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1874519"/>
            <a:ext cx="1536192" cy="246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모든 위치 수집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01000" y="1792224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0" y="1417320"/>
            <a:ext cx="1828800" cy="749808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1508760"/>
            <a:ext cx="16093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Noto Sans CJK KR"/>
              </a:rPr>
              <a:t>merge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1874519"/>
            <a:ext cx="1536192" cy="2468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겹치는 구간 병합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154680"/>
            <a:ext cx="1001268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1288" y="3246120"/>
            <a:ext cx="979322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1">
                <a:solidFill>
                  <a:srgbClr val="CBD5E1"/>
                </a:solidFill>
                <a:latin typeface="Noto Sans CJK KR"/>
              </a:rPr>
              <a:t>ACM 인증서 만료일 점검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3438144"/>
            <a:ext cx="713232" cy="29260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Noto Sans CJK KR"/>
              </a:rPr>
              <a:t>ACM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57400" y="3438144"/>
            <a:ext cx="868680" cy="29260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Noto Sans CJK KR"/>
              </a:rPr>
              <a:t>인증서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480" y="4800600"/>
            <a:ext cx="25146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64207" y="4892040"/>
            <a:ext cx="22951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Noto Sans CJK KR"/>
              </a:rPr>
              <a:t>반환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0784" y="5257800"/>
            <a:ext cx="2221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문자열 또는 React element 배열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4800600"/>
            <a:ext cx="25146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4608" y="4892040"/>
            <a:ext cx="22951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E11D48"/>
                </a:solidFill>
                <a:latin typeface="Noto Sans CJK KR"/>
              </a:rPr>
              <a:t>왜 regex 없음?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01184" y="5257800"/>
            <a:ext cx="2221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escape·ReDoS 부담 감소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4800600"/>
            <a:ext cx="25146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7" y="4892040"/>
            <a:ext cx="22951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Noto Sans CJK KR"/>
              </a:rPr>
              <a:t>React 사용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1583" y="5257800"/>
            <a:ext cx="22219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{highlightLabel(label)}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6272784"/>
            <a:ext cx="11411712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KR"/>
              </a:rPr>
              <a:t>발표 포인트: 정규식 대신 indexOf를 써서 사용자 입력 특수문자 문제를 피했다는 설명을 넣기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74320"/>
            <a:ext cx="566928" cy="3840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9418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Noto Sans CJK KR"/>
              </a:rPr>
              <a:t>선택 태그: getTags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94944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oto Sans CJK KR"/>
              </a:rPr>
              <a:t>선택 상태를 사용자에게 읽기 쉬운 태그 목록으로 압축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1060704"/>
            <a:ext cx="1141171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508760"/>
            <a:ext cx="2148840" cy="329184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0">
                <a:solidFill>
                  <a:srgbClr val="0F172A"/>
                </a:solidFill>
                <a:latin typeface="Noto Sans CJK KR"/>
              </a:rPr>
              <a:t>Certificate Manager 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6192" y="2011680"/>
            <a:ext cx="2148840" cy="329184"/>
          </a:xfrm>
          <a:prstGeom prst="roundRect">
            <a:avLst/>
          </a:prstGeom>
          <a:solidFill>
            <a:srgbClr val="DCFCE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AWS-ACM-001 ☑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581912" y="1837943"/>
            <a:ext cx="246888" cy="338329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536192" y="2514600"/>
            <a:ext cx="2148840" cy="329184"/>
          </a:xfrm>
          <a:prstGeom prst="roundRect">
            <a:avLst/>
          </a:prstGeom>
          <a:solidFill>
            <a:srgbClr val="DCFCE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AWS-ACM-002 ☑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581912" y="1837943"/>
            <a:ext cx="246888" cy="841249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3017520"/>
            <a:ext cx="2148840" cy="329184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IAM 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36192" y="3520440"/>
            <a:ext cx="2148840" cy="329184"/>
          </a:xfrm>
          <a:prstGeom prst="roundRect">
            <a:avLst/>
          </a:prstGeom>
          <a:solidFill>
            <a:srgbClr val="DCFCE7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AWS-IAM-009 ☑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581912" y="3346703"/>
            <a:ext cx="246888" cy="338329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36192" y="4023360"/>
            <a:ext cx="2148840" cy="329184"/>
          </a:xfrm>
          <a:prstGeom prst="roundRect">
            <a:avLst/>
          </a:prstGeom>
          <a:solidFill>
            <a:srgbClr val="FFE4E6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850" b="1">
                <a:solidFill>
                  <a:srgbClr val="0F172A"/>
                </a:solidFill>
                <a:latin typeface="Noto Sans CJK KR"/>
              </a:rPr>
              <a:t>AWS-IAM-010 □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581912" y="3346703"/>
            <a:ext cx="246888" cy="841249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69080" y="2834640"/>
            <a:ext cx="86868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66360" y="1554480"/>
            <a:ext cx="2514600" cy="960120"/>
          </a:xfrm>
          <a:prstGeom prst="round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1645920"/>
            <a:ext cx="22951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Noto Sans CJK KR"/>
              </a:rPr>
              <a:t>all 태그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2011680"/>
            <a:ext cx="222199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그룹 전체 checked
하위로 내려가지 않음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3063240"/>
            <a:ext cx="2514600" cy="960120"/>
          </a:xfrm>
          <a:prstGeom prst="roundRect">
            <a:avLst/>
          </a:prstGeom>
          <a:solidFill>
            <a:srgbClr val="CFFAFE"/>
          </a:solidFill>
          <a:ln w="1397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6088" y="3154680"/>
            <a:ext cx="22951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0891B2"/>
                </a:solidFill>
                <a:latin typeface="Noto Sans CJK KR"/>
              </a:rPr>
              <a:t>leaf 태그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2664" y="3520440"/>
            <a:ext cx="222199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일부만 checked면
자식으로 재귀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09560" y="2834640"/>
            <a:ext cx="822960" cy="0"/>
          </a:xfrm>
          <a:prstGeom prst="line">
            <a:avLst/>
          </a:prstGeom>
          <a:ln w="2540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961120" y="2194560"/>
            <a:ext cx="2331720" cy="1143000"/>
          </a:xfrm>
          <a:prstGeom prst="roundRect">
            <a:avLst/>
          </a:prstGeom>
          <a:solidFill>
            <a:srgbClr val="FFE4E6"/>
          </a:solidFill>
          <a:ln w="1397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0848" y="2286000"/>
            <a:ext cx="211226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E11D48"/>
                </a:solidFill>
                <a:latin typeface="Noto Sans CJK KR"/>
              </a:rPr>
              <a:t>X 클릭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2651760"/>
            <a:ext cx="2039112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tag.policyIds
한 번에 false 처리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5074920"/>
            <a:ext cx="246888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38528" y="5166359"/>
            <a:ext cx="224942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Noto Sans CJK KR"/>
              </a:rPr>
              <a:t>getLeafPolicyIds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4" y="5532120"/>
            <a:ext cx="2176272" cy="1371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all 태그 삭제용 id 수집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5074920"/>
            <a:ext cx="246888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5166359"/>
            <a:ext cx="224942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Noto Sans CJK KR"/>
              </a:rPr>
              <a:t>selectedCnt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2624" y="5532120"/>
            <a:ext cx="2176272" cy="1371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Object.values(checkedMap)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5074920"/>
            <a:ext cx="246888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7" y="5166359"/>
            <a:ext cx="224942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Noto Sans CJK KR"/>
              </a:rPr>
              <a:t>중복 방지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5532120"/>
            <a:ext cx="2176272" cy="1371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all이면 return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6272784"/>
            <a:ext cx="11411712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KR"/>
              </a:rPr>
              <a:t>발표 포인트: 태그는 checkedMap 기준으로 매번 계산하고, all 태그는 UI 노이즈를 줄이기 위한 설계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74320"/>
            <a:ext cx="566928" cy="3840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9418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Noto Sans CJK KR"/>
              </a:rPr>
              <a:t>App 연동: 상태 끌어올리기 + localStorage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94944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oto Sans CJK KR"/>
              </a:rPr>
              <a:t>FilterView 내부 선택을 부모 App과 TableView에 동기화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1060704"/>
            <a:ext cx="1141171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" y="2011680"/>
            <a:ext cx="1691640" cy="914400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03120"/>
            <a:ext cx="14721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Noto Sans CJK KR"/>
              </a:rPr>
              <a:t>FilterView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468880"/>
            <a:ext cx="1399032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checkedMap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7168" y="2468880"/>
            <a:ext cx="94183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1645920"/>
            <a:ext cx="1828800" cy="1645920"/>
          </a:xfrm>
          <a:prstGeom prst="roundRect">
            <a:avLst/>
          </a:prstGeom>
          <a:solidFill>
            <a:srgbClr val="CFFAFE"/>
          </a:solidFill>
          <a:ln w="1397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737360"/>
            <a:ext cx="16093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0891B2"/>
                </a:solidFill>
                <a:latin typeface="Noto Sans CJK KR"/>
              </a:rPr>
              <a:t>useEffect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2463" y="2103120"/>
            <a:ext cx="1536192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ids = checked true
onChange?.(ids)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32120" y="2468880"/>
            <a:ext cx="941832" cy="0"/>
          </a:xfrm>
          <a:prstGeom prst="line">
            <a:avLst/>
          </a:prstGeom>
          <a:ln w="2540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629400" y="1645920"/>
            <a:ext cx="1828800" cy="1645920"/>
          </a:xfrm>
          <a:prstGeom prst="round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1737360"/>
            <a:ext cx="16093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Noto Sans CJK KR"/>
              </a:rPr>
              <a:t>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5704" y="2103120"/>
            <a:ext cx="1536192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handleFilterChange
useCallback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595360" y="1417320"/>
            <a:ext cx="868680" cy="64008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95360" y="2852928"/>
            <a:ext cx="868680" cy="850392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868680"/>
            <a:ext cx="1828800" cy="960120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6648" y="960120"/>
            <a:ext cx="16093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KR"/>
              </a:rPr>
              <a:t>localStorage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3224" y="1325880"/>
            <a:ext cx="153619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saveSelectedPolicyIds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3337560"/>
            <a:ext cx="1828800" cy="960120"/>
          </a:xfrm>
          <a:prstGeom prst="roundRect">
            <a:avLst/>
          </a:prstGeom>
          <a:solidFill>
            <a:srgbClr val="FEF3C7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6648" y="3429000"/>
            <a:ext cx="16093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KR"/>
              </a:rPr>
              <a:t>TableView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3224" y="3794760"/>
            <a:ext cx="153619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tableData 표시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4800600"/>
            <a:ext cx="233172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9968" y="4892040"/>
            <a:ext cx="211226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Noto Sans CJK KR"/>
              </a:rPr>
              <a:t>선택 0개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66544" y="5257800"/>
            <a:ext cx="203911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setTableData(testData)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4800600"/>
            <a:ext cx="233172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1768" y="4892040"/>
            <a:ext cx="211226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Noto Sans CJK KR"/>
              </a:rPr>
              <a:t>선택 있음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38344" y="5257800"/>
            <a:ext cx="203911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testData.filter(id 포함)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4800600"/>
            <a:ext cx="233172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7" y="4892040"/>
            <a:ext cx="2112263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Noto Sans CJK KR"/>
              </a:rPr>
              <a:t>초기 복원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4" y="5257800"/>
            <a:ext cx="203911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useState lazy init + try/catch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6272784"/>
            <a:ext cx="11411712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KR"/>
              </a:rPr>
              <a:t>발표 포인트: 부모로 올린 ids가 저장소와 테이블 필터링의 기준이 되는 단방향 데이터 흐름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74320"/>
            <a:ext cx="566928" cy="3840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9418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Noto Sans CJK KR"/>
              </a:rPr>
              <a:t>테스트로 검증한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94944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oto Sans CJK KR"/>
              </a:rPr>
              <a:t>구현 단위보다 실제 사용자 시나리오를 검증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1060704"/>
            <a:ext cx="1141171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828800"/>
            <a:ext cx="1691640" cy="1280160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920240"/>
            <a:ext cx="14721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Noto Sans CJK KR"/>
              </a:rPr>
              <a:t>기본 렌더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286000"/>
            <a:ext cx="1399032" cy="7772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검색 input
선택된 옵션
테이블 헤더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487168"/>
            <a:ext cx="36576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40" y="1828800"/>
            <a:ext cx="1691640" cy="1280160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920240"/>
            <a:ext cx="14721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Noto Sans CJK KR"/>
              </a:rPr>
              <a:t>검색→선택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2286000"/>
            <a:ext cx="1399032" cy="7772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만료일 검색
leaf 체크
태그 생성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2487168"/>
            <a:ext cx="36576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1828800"/>
            <a:ext cx="1691640" cy="1280160"/>
          </a:xfrm>
          <a:prstGeom prst="roundRect">
            <a:avLst/>
          </a:prstGeom>
          <a:solidFill>
            <a:srgbClr val="CFFAFE"/>
          </a:solidFill>
          <a:ln w="1397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1920240"/>
            <a:ext cx="14721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0891B2"/>
                </a:solidFill>
                <a:latin typeface="Noto Sans CJK KR"/>
              </a:rPr>
              <a:t>테이블 필터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286000"/>
            <a:ext cx="1399032" cy="7772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선택 policyId만 남고
다른 row 제거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0" y="2487168"/>
            <a:ext cx="36576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0" y="1828800"/>
            <a:ext cx="1691640" cy="1280160"/>
          </a:xfrm>
          <a:prstGeom prst="roundRect">
            <a:avLst/>
          </a:prstGeom>
          <a:solidFill>
            <a:srgbClr val="FFE4E6"/>
          </a:solidFill>
          <a:ln w="1397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4927" y="1920240"/>
            <a:ext cx="14721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E11D48"/>
                </a:solidFill>
                <a:latin typeface="Noto Sans CJK KR"/>
              </a:rPr>
              <a:t>태그 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286000"/>
            <a:ext cx="1399032" cy="7772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선택 해제
전체 데이터 복원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2487168"/>
            <a:ext cx="36576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55480" y="1828800"/>
            <a:ext cx="1691640" cy="1280160"/>
          </a:xfrm>
          <a:prstGeom prst="roundRect">
            <a:avLst/>
          </a:prstGeom>
          <a:solidFill>
            <a:srgbClr val="FEF3C7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5208" y="1920240"/>
            <a:ext cx="14721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Noto Sans CJK KR"/>
              </a:rPr>
              <a:t>복원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1784" y="2286000"/>
            <a:ext cx="1399032" cy="7772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언마운트 후 재렌더
localStorage 선택 유지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4480560"/>
            <a:ext cx="274320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4572000"/>
            <a:ext cx="25237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KR"/>
              </a:rPr>
              <a:t>테스트 관점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4937760"/>
            <a:ext cx="2450592" cy="274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App 전체를 렌더링해 E2E에 가깝게 검증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4480560"/>
            <a:ext cx="274320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4572000"/>
            <a:ext cx="25237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KR"/>
              </a:rPr>
              <a:t>검증 대상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5464" y="4937760"/>
            <a:ext cx="2450592" cy="274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검색 / 선택 / 태그 / 테이블 / 저장소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4480560"/>
            <a:ext cx="274320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7" y="4572000"/>
            <a:ext cx="252374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7C3AED"/>
                </a:solidFill>
                <a:latin typeface="Noto Sans CJK KR"/>
              </a:rPr>
              <a:t>발표 포인트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01583" y="4937760"/>
            <a:ext cx="2450592" cy="274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알고리즘보다 사용자 결과를 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6272784"/>
            <a:ext cx="11411712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KR"/>
              </a:rPr>
              <a:t>발표 포인트: 테스트는 구현 세부보다 사용자가 보는 동작이 깨지지 않는지 확인했다는 메시지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274320"/>
            <a:ext cx="566928" cy="384048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KR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28600"/>
            <a:ext cx="9418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Noto Sans CJK KR"/>
              </a:rPr>
              <a:t>마무리: 설계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94944"/>
            <a:ext cx="1060704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Noto Sans CJK KR"/>
              </a:rPr>
              <a:t>원본 데이터 + 파생 트리 + 분리된 UI 상태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1060704"/>
            <a:ext cx="11411712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4617720" y="2788920"/>
            <a:ext cx="2926080" cy="1325880"/>
          </a:xfrm>
          <a:prstGeom prst="ellipse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검색과 선택이
서로 꼬이지 않는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2148840" cy="868680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17320"/>
            <a:ext cx="1929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Noto Sans CJK KR"/>
              </a:rPr>
              <a:t>원본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783080"/>
            <a:ext cx="1856232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testData flat
불변 기준점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10512" y="2194560"/>
            <a:ext cx="4270248" cy="1261872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0" y="1325880"/>
            <a:ext cx="2148840" cy="868680"/>
          </a:xfrm>
          <a:prstGeom prst="roundRect">
            <a:avLst/>
          </a:prstGeom>
          <a:solidFill>
            <a:srgbClr val="CFFAFE"/>
          </a:solidFill>
          <a:ln w="1397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417320"/>
            <a:ext cx="1929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0891B2"/>
                </a:solidFill>
                <a:latin typeface="Noto Sans CJK KR"/>
              </a:rPr>
              <a:t>파생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3904" y="1783080"/>
            <a:ext cx="1856232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tree / filteredTree
useMemo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36592" y="2194560"/>
            <a:ext cx="1344168" cy="1261872"/>
          </a:xfrm>
          <a:prstGeom prst="line">
            <a:avLst/>
          </a:prstGeom>
          <a:ln w="15240">
            <a:solidFill>
              <a:srgbClr val="089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0" y="1325880"/>
            <a:ext cx="2148840" cy="868680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1417320"/>
            <a:ext cx="1929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Noto Sans CJK KR"/>
              </a:rPr>
              <a:t>UI 상태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984" y="1783080"/>
            <a:ext cx="1856232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openMap / checkedMap
useState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080760" y="2194560"/>
            <a:ext cx="1581912" cy="1261872"/>
          </a:xfrm>
          <a:prstGeom prst="line">
            <a:avLst/>
          </a:prstGeom>
          <a:ln w="152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509760" y="1325880"/>
            <a:ext cx="2148840" cy="868680"/>
          </a:xfrm>
          <a:prstGeom prst="roundRect">
            <a:avLst/>
          </a:prstGeom>
          <a:solidFill>
            <a:srgbClr val="EDE9FE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9488" y="1417320"/>
            <a:ext cx="1929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Noto Sans CJK KR"/>
              </a:rPr>
              <a:t>부수 효과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783080"/>
            <a:ext cx="1856232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onChange / localStorage
useEffect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080760" y="2194560"/>
            <a:ext cx="4507992" cy="1261872"/>
          </a:xfrm>
          <a:prstGeom prst="line">
            <a:avLst/>
          </a:prstGeom>
          <a:ln w="152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94560" y="4617720"/>
            <a:ext cx="2148840" cy="868680"/>
          </a:xfrm>
          <a:prstGeom prst="roundRect">
            <a:avLst/>
          </a:prstGeom>
          <a:solidFill>
            <a:srgbClr val="FEF3C7"/>
          </a:solidFill>
          <a:ln w="1397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04288" y="4709159"/>
            <a:ext cx="1929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Noto Sans CJK KR"/>
              </a:rPr>
              <a:t>재귀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864" y="5074920"/>
            <a:ext cx="1856232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makeTree count / filter / check / tag / open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3273552" y="3456432"/>
            <a:ext cx="2807208" cy="1161288"/>
          </a:xfrm>
          <a:prstGeom prst="line">
            <a:avLst/>
          </a:prstGeom>
          <a:ln w="1524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32320" y="4617720"/>
            <a:ext cx="2148840" cy="868680"/>
          </a:xfrm>
          <a:prstGeom prst="roundRect">
            <a:avLst/>
          </a:prstGeom>
          <a:solidFill>
            <a:srgbClr val="FFE4E6"/>
          </a:solidFill>
          <a:ln w="1397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42048" y="4709159"/>
            <a:ext cx="1929384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E11D48"/>
                </a:solidFill>
                <a:latin typeface="Noto Sans CJK KR"/>
              </a:rPr>
              <a:t>React 문법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8624" y="5074920"/>
            <a:ext cx="1856232" cy="36575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50" b="0">
                <a:solidFill>
                  <a:srgbClr val="1F2937"/>
                </a:solidFill>
                <a:latin typeface="Noto Sans CJK KR"/>
              </a:rPr>
              <a:t>controlled input / ref / conditional render / map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6080760" y="3456432"/>
            <a:ext cx="2130552" cy="1161288"/>
          </a:xfrm>
          <a:prstGeom prst="line">
            <a:avLst/>
          </a:prstGeom>
          <a:ln w="15240">
            <a:solidFill>
              <a:srgbClr val="E11D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84048" y="6272784"/>
            <a:ext cx="11411712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Noto Sans CJK KR"/>
              </a:rPr>
              <a:t>발표 포인트: Vue의 computed/watch/ref 사고를 React의 useMemo/useEffect/useState로 대응해 구현했다고 마무리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